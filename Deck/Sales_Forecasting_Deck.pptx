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597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97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FORECASTING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21208" y="285808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Model ARIMA vs LSTM</a:t>
            </a:r>
            <a:r>
              <a:rPr lang="en-US" sz="1400" dirty="0"/>
              <a:t> </a:t>
            </a:r>
            <a:r>
              <a:rPr lang="en-US" sz="1400" dirty="0" err="1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</a:t>
            </a: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Penjualan Retail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4142A"/>
          </a:solidFill>
          <a:ln w="12700">
            <a:solidFill>
              <a:srgbClr val="1414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6949440" y="457200"/>
            <a:ext cx="1645920" cy="1645920"/>
          </a:xfrm>
          <a:prstGeom prst="ellipse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7498080" y="1828800"/>
            <a:ext cx="1188720" cy="1188720"/>
          </a:xfrm>
          <a:prstGeom prst="ellipse">
            <a:avLst/>
          </a:prstGeom>
          <a:solidFill>
            <a:srgbClr val="4A4AFF">
              <a:alpha val="25000"/>
            </a:srgbClr>
          </a:solidFill>
          <a:ln w="12700">
            <a:solidFill>
              <a:srgbClr val="4A4A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6675120" y="3108960"/>
            <a:ext cx="822960" cy="822960"/>
          </a:xfrm>
          <a:prstGeom prst="ellipse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640080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Batch 10 Indonesia AI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DESKRIPSI PROYEK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521208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28600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13232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Proyek:</a:t>
            </a:r>
            <a:endParaRPr lang="en-US" sz="1300" b="1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4114800" cy="150876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576072" y="1527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160911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ritel memiliki pola musiman yang kompleks. Diperlukan model forecasting yang andal untuk mendukung perencanaan inventori dan strategi bisnis.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114800" cy="150876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828032" y="1527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Tujuan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159105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dan membandingkan dua pendekatan forecasting — ARIMA dan LSTM — untuk memprediksi total penjualan harian pada Store #5.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4114800" cy="150876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576072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Sasaran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31729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model dengan error terendah (RMSE, MAE, MAPE) dan memberikan wawasan tentang kelebihan masing-masing pendekatan.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114800" cy="150876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4828032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Metodologi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31729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Dekomposisi musiman → Auto-ARIMA → LSTM (Bidirectional + Dropout) → Evaluasi multi-metrik → Perbandingan model.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521208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4114800" cy="3931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943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store5.csv — Store #5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Periode: Januari 2013 – Agustus 2017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9144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57200" y="1728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55.572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1691640"/>
            <a:ext cx="9144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1463040" y="1728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1691640"/>
            <a:ext cx="9144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2468880" y="1728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68880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0" y="1691640"/>
            <a:ext cx="9144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3474720" y="1728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1.684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74720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3931920" cy="292608"/>
          </a:xfrm>
          <a:prstGeom prst="rect">
            <a:avLst/>
          </a:prstGeom>
          <a:solidFill>
            <a:srgbClr val="EFEFE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530352" y="26426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72768" y="26426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unik record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39319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530352" y="29626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72768" y="29626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transaksi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3931920" cy="292608"/>
          </a:xfrm>
          <a:prstGeom prst="rect">
            <a:avLst/>
          </a:prstGeom>
          <a:solidFill>
            <a:srgbClr val="EFEFE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530352" y="3282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store_nbr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72768" y="32826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toko (fixed: 5)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566160"/>
            <a:ext cx="39319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530352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572768" y="3602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produk (33 jenis)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3931920" cy="292608"/>
          </a:xfrm>
          <a:prstGeom prst="rect">
            <a:avLst/>
          </a:prstGeom>
          <a:solidFill>
            <a:srgbClr val="EFEFE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530352" y="39227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572768" y="39227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penjualan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39319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530352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onpromotion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572768" y="4242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item promosi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526280"/>
            <a:ext cx="3931920" cy="292608"/>
          </a:xfrm>
          <a:prstGeom prst="rect">
            <a:avLst/>
          </a:prstGeom>
          <a:solidFill>
            <a:srgbClr val="EFEFE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530352" y="45628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dcoilwtico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572768" y="45628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minyak WTI harian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914400"/>
            <a:ext cx="3977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42"/>
          <p:cNvSpPr/>
          <p:nvPr/>
        </p:nvSpPr>
        <p:spPr>
          <a:xfrm>
            <a:off x="4754880" y="914400"/>
            <a:ext cx="3977640" cy="36576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Text 43"/>
          <p:cNvSpPr/>
          <p:nvPr/>
        </p:nvSpPr>
        <p:spPr>
          <a:xfrm>
            <a:off x="4800600" y="9509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1371600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Text 45"/>
          <p:cNvSpPr/>
          <p:nvPr/>
        </p:nvSpPr>
        <p:spPr>
          <a:xfrm>
            <a:off x="4800600" y="140817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30368" y="1371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Tanggal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0368" y="15544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kolom date ke datetime pandas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1947672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Text 49"/>
          <p:cNvSpPr/>
          <p:nvPr/>
        </p:nvSpPr>
        <p:spPr>
          <a:xfrm>
            <a:off x="4800600" y="1984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30368" y="19476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Harian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30368" y="21305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date → total sales (1.684 timesteps)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00600" y="2523744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5" name="Text 53"/>
          <p:cNvSpPr/>
          <p:nvPr/>
        </p:nvSpPr>
        <p:spPr>
          <a:xfrm>
            <a:off x="4800600" y="25603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30368" y="25237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30368" y="27066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 null pada dcoilwtico (forward fill)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00600" y="3099816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9" name="Text 57"/>
          <p:cNvSpPr/>
          <p:nvPr/>
        </p:nvSpPr>
        <p:spPr>
          <a:xfrm>
            <a:off x="4800600" y="31363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230368" y="30998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Dekomposisi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30368" y="32826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decompose, ACF/PACF plots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00600" y="3675888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Text 61"/>
          <p:cNvSpPr/>
          <p:nvPr/>
        </p:nvSpPr>
        <p:spPr>
          <a:xfrm>
            <a:off x="4800600" y="3712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230368" y="36758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230368" y="3858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untuk data LSTM [0, 1]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00600" y="4251960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7" name="Text 65"/>
          <p:cNvSpPr/>
          <p:nvPr/>
        </p:nvSpPr>
        <p:spPr>
          <a:xfrm>
            <a:off x="4800600" y="42885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230368" y="4251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230368" y="44348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train, 20% test secara kronologis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METODOLOGI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521208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28600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13232" y="9144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pendekatan model time series dibangun dan dibandingkan secara sistematis: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4114800" cy="352044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411480" y="1325880"/>
            <a:ext cx="4114800" cy="41148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ARIMA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stasioneritas (ADF Test)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Auto-ARIMA via pmdarima untuk seleksi parameter (p, d, q) optimal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7980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Penentuan orde differencing &amp; seasonal component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model pada data training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multi-step ke depan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224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transform ke skala asli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114800" cy="352044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1148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75488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LSTM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data dengan MinMaxScaler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 sequence window (lookback)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7980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Arsitektur: Bidirectional LSTM + Dropout + BatchNorm + Dense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273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EarlyStopping untuk mencegah overfitting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dengan optimizer Adam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4224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transform prediksi ke skala asli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HASIL DAN PEMBAHASAN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521208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28600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13232" y="9144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kinerja model berdasarkan 6 metrik evaluasi: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1920240" cy="347472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1298448"/>
            <a:ext cx="1920240" cy="347472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2331720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298448"/>
            <a:ext cx="1920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4251960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LSTM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98448"/>
            <a:ext cx="1463040" cy="34747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172200" y="1316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1664208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2331720" y="1664208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4251960" y="1664208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6172200" y="1664208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1148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-0.358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719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2048256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2331720" y="2048256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4251960" y="2048256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6172200" y="2048256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411480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1720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2.940.283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51960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2.373.588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2432304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2331720" y="2432304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4251960" y="2432304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Shape 34"/>
          <p:cNvSpPr/>
          <p:nvPr/>
        </p:nvSpPr>
        <p:spPr>
          <a:xfrm>
            <a:off x="6172200" y="2432304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411480" y="2487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31720" y="2487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1.714,73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51960" y="2487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1.540,65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2816352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2331720" y="2816352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Shape 41"/>
          <p:cNvSpPr/>
          <p:nvPr/>
        </p:nvSpPr>
        <p:spPr>
          <a:xfrm>
            <a:off x="4251960" y="2816352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42"/>
          <p:cNvSpPr/>
          <p:nvPr/>
        </p:nvSpPr>
        <p:spPr>
          <a:xfrm>
            <a:off x="6172200" y="2816352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Text 43"/>
          <p:cNvSpPr/>
          <p:nvPr/>
        </p:nvSpPr>
        <p:spPr>
          <a:xfrm>
            <a:off x="411480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331720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1.298,39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251960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1.187,08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72200" y="2871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" y="3200400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0" name="Shape 48"/>
          <p:cNvSpPr/>
          <p:nvPr/>
        </p:nvSpPr>
        <p:spPr>
          <a:xfrm>
            <a:off x="2331720" y="3200400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Shape 49"/>
          <p:cNvSpPr/>
          <p:nvPr/>
        </p:nvSpPr>
        <p:spPr>
          <a:xfrm>
            <a:off x="4251960" y="3200400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2" name="Shape 50"/>
          <p:cNvSpPr/>
          <p:nvPr/>
        </p:nvSpPr>
        <p:spPr>
          <a:xfrm>
            <a:off x="6172200" y="3200400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3" name="Text 51"/>
          <p:cNvSpPr/>
          <p:nvPr/>
        </p:nvSpPr>
        <p:spPr>
          <a:xfrm>
            <a:off x="411480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331720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12,03%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251960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11,40%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72200" y="3255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11480" y="3584448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8" name="Shape 56"/>
          <p:cNvSpPr/>
          <p:nvPr/>
        </p:nvSpPr>
        <p:spPr>
          <a:xfrm>
            <a:off x="2331720" y="3584448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9" name="Shape 57"/>
          <p:cNvSpPr/>
          <p:nvPr/>
        </p:nvSpPr>
        <p:spPr>
          <a:xfrm>
            <a:off x="4251960" y="3584448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0" name="Shape 58"/>
          <p:cNvSpPr/>
          <p:nvPr/>
        </p:nvSpPr>
        <p:spPr>
          <a:xfrm>
            <a:off x="6172200" y="3584448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1" name="Text 59"/>
          <p:cNvSpPr/>
          <p:nvPr/>
        </p:nvSpPr>
        <p:spPr>
          <a:xfrm>
            <a:off x="41148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33172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0,846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25196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0,774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172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11480" y="4041648"/>
            <a:ext cx="8321040" cy="804672"/>
          </a:xfrm>
          <a:prstGeom prst="rect">
            <a:avLst/>
          </a:prstGeom>
          <a:solidFill>
            <a:srgbClr val="FFF3F3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6" name="Text 64"/>
          <p:cNvSpPr/>
          <p:nvPr/>
        </p:nvSpPr>
        <p:spPr>
          <a:xfrm>
            <a:off x="548640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Interpretasi Hasil: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48640" y="4334256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unggul di seluruh 6 metrik. MAPE LSTM sebesar 11,40% menunjukkan akurasi yang cukup baik untuk kebutuhan retail. R² negatif pada kedua model mengindikasikan variasi tinggi pada data penjualan harian — hal wajar pada data ritel mentah yang belum difilter per kategori.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REKOMENDASI &amp; TINDAK LANJUT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521208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28600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13232" y="9144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saran perbaikan dan rencana pengembangan proyek AI ke depan: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411480" y="132588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539496" y="1527048"/>
            <a:ext cx="457200" cy="457200"/>
          </a:xfrm>
          <a:prstGeom prst="ellipse">
            <a:avLst/>
          </a:prstGeom>
          <a:solidFill>
            <a:srgbClr val="FEF0EF"/>
          </a:solidFill>
          <a:ln w="12700">
            <a:solidFill>
              <a:srgbClr val="F5CEC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21208" y="152704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Fitur Eksogen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4904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Integrasikan onpromotion &amp; harga minyak (dcoilwtico) sebagai variabel prediktor tambahan untuk meningkatkan akurasi model.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4791456" y="1527048"/>
            <a:ext cx="457200" cy="457200"/>
          </a:xfrm>
          <a:prstGeom prst="ellipse">
            <a:avLst/>
          </a:prstGeom>
          <a:solidFill>
            <a:srgbClr val="FEF0EF"/>
          </a:solidFill>
          <a:ln w="12700">
            <a:solidFill>
              <a:srgbClr val="F5CEC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773168" y="152704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Multi-Store 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14904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Kembangkan model generalis yang mencakup seluruh toko untuk menangkap pola cross-store dan efisiensi skala.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5603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11480" y="256032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539496" y="2761488"/>
            <a:ext cx="457200" cy="457200"/>
          </a:xfrm>
          <a:prstGeom prst="ellipse">
            <a:avLst/>
          </a:prstGeom>
          <a:solidFill>
            <a:srgbClr val="FEF0EF"/>
          </a:solidFill>
          <a:ln w="12700">
            <a:solidFill>
              <a:srgbClr val="F5CEC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521208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Alternatif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2735697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Prophet, N-BEATS, atau Temporal Fusion Transformer sebagai baseline pembanding tambahan.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603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4663440" y="256032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4791456" y="2761488"/>
            <a:ext cx="457200" cy="457200"/>
          </a:xfrm>
          <a:prstGeom prst="ellipse">
            <a:avLst/>
          </a:prstGeom>
          <a:solidFill>
            <a:srgbClr val="FEF0EF"/>
          </a:solidFill>
          <a:ln w="12700">
            <a:solidFill>
              <a:srgbClr val="F5CEC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4773168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27375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Optimalkan parameter LSTM (units, dropout, lookback window) menggunakan Optuna atau Keras Tuner.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79476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411480" y="379476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539496" y="3995928"/>
            <a:ext cx="457200" cy="457200"/>
          </a:xfrm>
          <a:prstGeom prst="ellipse">
            <a:avLst/>
          </a:prstGeom>
          <a:solidFill>
            <a:srgbClr val="FEF0EF"/>
          </a:solidFill>
          <a:ln w="12700">
            <a:solidFill>
              <a:srgbClr val="F5CEC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521208" y="399592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728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396333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REST API dengan FastAPI untuk serving model LSTM secara real-time pada sistem informasi ritel.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79476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0" name="Shape 38"/>
          <p:cNvSpPr/>
          <p:nvPr/>
        </p:nvSpPr>
        <p:spPr>
          <a:xfrm>
            <a:off x="4663440" y="379476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Shape 39"/>
          <p:cNvSpPr/>
          <p:nvPr/>
        </p:nvSpPr>
        <p:spPr>
          <a:xfrm>
            <a:off x="4791456" y="3995928"/>
            <a:ext cx="457200" cy="457200"/>
          </a:xfrm>
          <a:prstGeom prst="ellipse">
            <a:avLst/>
          </a:prstGeom>
          <a:solidFill>
            <a:srgbClr val="FEF0EF"/>
          </a:solidFill>
          <a:ln w="12700">
            <a:solidFill>
              <a:srgbClr val="F5CEC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Text 40"/>
          <p:cNvSpPr/>
          <p:nvPr/>
        </p:nvSpPr>
        <p:spPr>
          <a:xfrm>
            <a:off x="4773168" y="399592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492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Retraining Pipeline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49240" y="403707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Implementasikan pipeline retraining otomatis bulanan menggunakan Airflow atau MLflow untuk menjaga performa model.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KESIMPULAN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3891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LSTM &gt; ARIMA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264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mengungguli ARIMA di seluruh 6 metrik evaluasi (RMSE, MAE, MAPE, MASE, MSE, R²).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43891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031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MAPE 11,40%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408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akurasi LSTM yang memadai untuk mendukung keputusan planning inventori retail.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43891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0175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Potensi Pengembangan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552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fitur eksogen &amp; model modern (Prophet, N-BEATS) dapat meningkatkan performa signifikan.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43891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319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Siap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1696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LSTM dapat diintegrasikan ke dalam pipeline produksi dengan REST API dan monitoring berkelanjutan.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664</Words>
  <Application>Microsoft Office PowerPoint</Application>
  <PresentationFormat>On-screen Show (16:9)</PresentationFormat>
  <Paragraphs>146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Forecasting Project</dc:title>
  <dc:subject>PptxGenJS Presentation</dc:subject>
  <dc:creator>PptxGenJS</dc:creator>
  <cp:lastModifiedBy>Alfa Robi</cp:lastModifiedBy>
  <cp:revision>7</cp:revision>
  <dcterms:created xsi:type="dcterms:W3CDTF">2026-03-11T05:00:37Z</dcterms:created>
  <dcterms:modified xsi:type="dcterms:W3CDTF">2026-03-11T06:45:37Z</dcterms:modified>
</cp:coreProperties>
</file>