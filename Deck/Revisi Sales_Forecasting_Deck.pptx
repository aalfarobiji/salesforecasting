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3" r:id="rId6"/>
    <p:sldId id="264" r:id="rId7"/>
    <p:sldId id="266" r:id="rId8"/>
    <p:sldId id="265" r:id="rId9"/>
    <p:sldId id="267" r:id="rId10"/>
    <p:sldId id="260" r:id="rId11"/>
    <p:sldId id="268" r:id="rId12"/>
    <p:sldId id="261" r:id="rId13"/>
    <p:sldId id="262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979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47F79-D344-64E9-F99E-4E208844A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03B58-3859-C5C4-3DB8-89A7269526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C8BBC-AD89-9E16-1635-FA8009BB6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91739-3B8B-462F-F09E-FEB093D6C8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155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E409A-5C2C-7CD3-81C1-238D18316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38D17-326D-61EE-9F2D-A749A07E3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D6EE0-4A64-5A8C-A8CB-BBCECDF1C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4E4C5-1EB9-0CA7-7557-88A581B9FE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6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13CF4-9EA8-BAD4-31CB-0D56E92D7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14384-B26E-F28F-9779-BC430FF6E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70E87-F14D-572A-656A-FB414A80B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1DC39-7C7D-A20A-7C72-421A684B3B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17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0C2ED-2A94-CA79-1AD6-DE2569460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FD417A-8D08-2563-3296-699C832E6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650DB-8A0C-FB28-5766-E85C71983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986F8-2325-7F82-A718-F9CEAEB7DB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80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B38EA-660D-1BFF-A5CD-D1D6328B4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309013-5085-5043-2629-94E3A0DDBF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51801-3E56-801B-CD25-E33E1F82E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C0AB1-721D-02CE-8F26-261044315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61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E65A4-F3BA-374E-29CD-25EEE3091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C17405-6581-5D4B-66CD-5996734AB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E4F756-DFFE-1CA5-81BE-6D178B8EF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52FAC-642C-7A88-EEC3-777F363A5B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178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FORECASTING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21208" y="2858086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Model ARIMA vs LSTM</a:t>
            </a:r>
            <a:r>
              <a:rPr lang="en-US" sz="1400" dirty="0"/>
              <a:t> </a:t>
            </a:r>
            <a:r>
              <a:rPr lang="en-US" sz="1400" dirty="0" err="1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</a:t>
            </a:r>
            <a:r>
              <a:rPr lang="en-US" sz="14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Penjualan Retail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4142A"/>
          </a:solidFill>
          <a:ln w="12700">
            <a:solidFill>
              <a:srgbClr val="14142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Shape 4"/>
          <p:cNvSpPr/>
          <p:nvPr/>
        </p:nvSpPr>
        <p:spPr>
          <a:xfrm>
            <a:off x="6949440" y="457200"/>
            <a:ext cx="1645920" cy="1645920"/>
          </a:xfrm>
          <a:prstGeom prst="ellipse">
            <a:avLst/>
          </a:prstGeom>
          <a:solidFill>
            <a:srgbClr val="C0392B">
              <a:alpha val="30000"/>
            </a:srgbClr>
          </a:solidFill>
          <a:ln w="12700">
            <a:solidFill>
              <a:srgbClr val="C0392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7498080" y="1828800"/>
            <a:ext cx="1188720" cy="1188720"/>
          </a:xfrm>
          <a:prstGeom prst="ellipse">
            <a:avLst/>
          </a:prstGeom>
          <a:solidFill>
            <a:srgbClr val="4A4AFF">
              <a:alpha val="25000"/>
            </a:srgbClr>
          </a:solidFill>
          <a:ln w="12700">
            <a:solidFill>
              <a:srgbClr val="4A4A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Shape 6"/>
          <p:cNvSpPr/>
          <p:nvPr/>
        </p:nvSpPr>
        <p:spPr>
          <a:xfrm>
            <a:off x="6675120" y="3108960"/>
            <a:ext cx="822960" cy="822960"/>
          </a:xfrm>
          <a:prstGeom prst="ellipse">
            <a:avLst/>
          </a:prstGeom>
          <a:solidFill>
            <a:srgbClr val="C0392B">
              <a:alpha val="4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640080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 Batch 10 Indonesia AI  |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DESKRIPSI PROYEK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0" y="521208"/>
            <a:ext cx="11887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228600" cy="2011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713232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Proyek:</a:t>
            </a:r>
            <a:endParaRPr lang="en-US" sz="1300" b="1" dirty="0"/>
          </a:p>
        </p:txBody>
      </p:sp>
      <p:sp>
        <p:nvSpPr>
          <p:cNvPr id="9" name="Shape 7"/>
          <p:cNvSpPr/>
          <p:nvPr/>
        </p:nvSpPr>
        <p:spPr>
          <a:xfrm>
            <a:off x="411480" y="1417320"/>
            <a:ext cx="4114800" cy="150876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411480" y="1417320"/>
            <a:ext cx="64008" cy="1508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576072" y="1527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Latar Belakang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160911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Penjualan ritel memiliki pola musiman yang kompleks. Diperlukan model forecasting yang andal untuk mendukung perencanaan inventori dan strategi bisnis.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4114800" cy="150876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64008" cy="1508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4828032" y="1527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Tujuan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1591056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dan membandingkan dua pendekatan forecasting — ARIMA dan LSTM — untuk memprediksi total penjualan harian pada Store #5.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063240"/>
            <a:ext cx="4114800" cy="150876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8" name="Shape 16"/>
          <p:cNvSpPr/>
          <p:nvPr/>
        </p:nvSpPr>
        <p:spPr>
          <a:xfrm>
            <a:off x="411480" y="3063240"/>
            <a:ext cx="64008" cy="1508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576072" y="3172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Sasaran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" y="31729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Menghasilkan model dengan error terendah (RMSE, MAE, MAPE) dan memberikan wawasan tentang kelebihan masing-masing pendekatan.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63240"/>
            <a:ext cx="4114800" cy="150876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64008" cy="1508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4828032" y="3172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Metodologi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8032" y="31729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→ Dekomposisi musiman → Auto-ARIMA → LSTM (Bidirectional + Dropout) → Evaluasi multi-metrik → Perbandingan model.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0" y="521208"/>
            <a:ext cx="11887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411480" y="914400"/>
            <a:ext cx="4114800" cy="393192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59436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store5.csv — Store #5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3533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Periode: Januari 2013 – Agustus 2017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914400" cy="73152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457200" y="17282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55.572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2075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63040" y="1691640"/>
            <a:ext cx="914400" cy="73152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1463040" y="17282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2075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68880" y="1691640"/>
            <a:ext cx="914400" cy="73152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2468880" y="17282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468880" y="2075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0" y="1691640"/>
            <a:ext cx="914400" cy="731520"/>
          </a:xfrm>
          <a:prstGeom prst="rect">
            <a:avLst/>
          </a:prstGeom>
          <a:solidFill>
            <a:srgbClr val="F0F4FF"/>
          </a:solidFill>
          <a:ln w="12700">
            <a:solidFill>
              <a:srgbClr val="D0D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3474720" y="17282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1.684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74720" y="2075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606040"/>
            <a:ext cx="3931920" cy="292608"/>
          </a:xfrm>
          <a:prstGeom prst="rect">
            <a:avLst/>
          </a:prstGeom>
          <a:solidFill>
            <a:srgbClr val="EFEFE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530352" y="26426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572768" y="26426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unik record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39319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530352" y="29626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572768" y="29626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transaksi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246120"/>
            <a:ext cx="3931920" cy="292608"/>
          </a:xfrm>
          <a:prstGeom prst="rect">
            <a:avLst/>
          </a:prstGeom>
          <a:solidFill>
            <a:srgbClr val="EFEFE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530352" y="3282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store_nbr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572768" y="328269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toko (fixed: 5)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566160"/>
            <a:ext cx="39319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30"/>
          <p:cNvSpPr/>
          <p:nvPr/>
        </p:nvSpPr>
        <p:spPr>
          <a:xfrm>
            <a:off x="530352" y="36027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572768" y="36027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produk (33 jenis)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886200"/>
            <a:ext cx="3931920" cy="292608"/>
          </a:xfrm>
          <a:prstGeom prst="rect">
            <a:avLst/>
          </a:prstGeom>
          <a:solidFill>
            <a:srgbClr val="EFEFE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Text 33"/>
          <p:cNvSpPr/>
          <p:nvPr/>
        </p:nvSpPr>
        <p:spPr>
          <a:xfrm>
            <a:off x="530352" y="392277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572768" y="392277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penjualan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206240"/>
            <a:ext cx="39319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Text 36"/>
          <p:cNvSpPr/>
          <p:nvPr/>
        </p:nvSpPr>
        <p:spPr>
          <a:xfrm>
            <a:off x="530352" y="4242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onpromotion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572768" y="42428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item promosi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4526280"/>
            <a:ext cx="3931920" cy="292608"/>
          </a:xfrm>
          <a:prstGeom prst="rect">
            <a:avLst/>
          </a:prstGeom>
          <a:solidFill>
            <a:srgbClr val="EFEFEF"/>
          </a:solidFill>
          <a:ln w="381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1" name="Text 39"/>
          <p:cNvSpPr/>
          <p:nvPr/>
        </p:nvSpPr>
        <p:spPr>
          <a:xfrm>
            <a:off x="530352" y="45628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dcoilwtico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572768" y="45628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minyak WTI harian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914400"/>
            <a:ext cx="3977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4" name="Shape 42"/>
          <p:cNvSpPr/>
          <p:nvPr/>
        </p:nvSpPr>
        <p:spPr>
          <a:xfrm>
            <a:off x="4754880" y="914400"/>
            <a:ext cx="3977640" cy="36576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5" name="Text 43"/>
          <p:cNvSpPr/>
          <p:nvPr/>
        </p:nvSpPr>
        <p:spPr>
          <a:xfrm>
            <a:off x="4800600" y="9509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00600" y="1371600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7" name="Text 45"/>
          <p:cNvSpPr/>
          <p:nvPr/>
        </p:nvSpPr>
        <p:spPr>
          <a:xfrm>
            <a:off x="4800600" y="140817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30368" y="13716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Tanggal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30368" y="15544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 kolom date ke datetime pandas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00600" y="1947672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1" name="Text 49"/>
          <p:cNvSpPr/>
          <p:nvPr/>
        </p:nvSpPr>
        <p:spPr>
          <a:xfrm>
            <a:off x="4800600" y="198424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230368" y="19476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Agregasi Harian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30368" y="213055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date → total sales (1.684 timesteps)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800600" y="2523744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5" name="Text 53"/>
          <p:cNvSpPr/>
          <p:nvPr/>
        </p:nvSpPr>
        <p:spPr>
          <a:xfrm>
            <a:off x="4800600" y="256032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230368" y="252374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230368" y="270662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Penanganan null pada dcoilwtico (forward fill)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800600" y="3099816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9" name="Text 57"/>
          <p:cNvSpPr/>
          <p:nvPr/>
        </p:nvSpPr>
        <p:spPr>
          <a:xfrm>
            <a:off x="4800600" y="31363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230368" y="30998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Dekomposisi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230368" y="328269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decompose, ACF/PACF plots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800600" y="3675888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3" name="Text 61"/>
          <p:cNvSpPr/>
          <p:nvPr/>
        </p:nvSpPr>
        <p:spPr>
          <a:xfrm>
            <a:off x="4800600" y="371246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230368" y="36758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230368" y="38587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untuk data LSTM [0, 1]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800600" y="4251960"/>
            <a:ext cx="347472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7" name="Text 65"/>
          <p:cNvSpPr/>
          <p:nvPr/>
        </p:nvSpPr>
        <p:spPr>
          <a:xfrm>
            <a:off x="4800600" y="428853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230368" y="42519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230368" y="443484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train, 20% test secara kronologis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METODOLOGI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0" y="521208"/>
            <a:ext cx="11887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228600" cy="2011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713232" y="9144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pendekatan model time series dibangun dan dibandingkan secara sistematis: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325880"/>
            <a:ext cx="4114800" cy="352044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0" name="Shape 8"/>
          <p:cNvSpPr/>
          <p:nvPr/>
        </p:nvSpPr>
        <p:spPr>
          <a:xfrm>
            <a:off x="411480" y="1325880"/>
            <a:ext cx="4114800" cy="411480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ARIMA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847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stasioneritas (ADF Test)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3225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Auto-ARIMA via pmdarima untuk seleksi parameter (p, d, q) optimal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7980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Penentuan orde differencing &amp; seasonal component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2735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model pada data training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multi-step ke depan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1325880"/>
            <a:ext cx="4114800" cy="3520440"/>
          </a:xfrm>
          <a:prstGeom prst="rect">
            <a:avLst/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4663440" y="1325880"/>
            <a:ext cx="411480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4754880" y="13716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LSTM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1847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 data dengan MinMaxScaler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23225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Pembentukan sequence window (lookback)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27980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Arsitektur: Bidirectional LSTM + Dropout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32735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EarlyStopping untuk mencegah overfitting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A6B91D-398D-B2CC-2F5F-A2FA17E25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89DC403-F0AA-F572-9831-A3D7A52357AC}"/>
              </a:ext>
            </a:extLst>
          </p:cNvPr>
          <p:cNvSpPr/>
          <p:nvPr/>
        </p:nvSpPr>
        <p:spPr>
          <a:xfrm>
            <a:off x="411480" y="784121"/>
            <a:ext cx="6400800" cy="20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/>
              <a:t>ACF dan PACF Analysis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9C18102-10A3-D854-1501-638D8286D79A}"/>
              </a:ext>
            </a:extLst>
          </p:cNvPr>
          <p:cNvSpPr/>
          <p:nvPr/>
        </p:nvSpPr>
        <p:spPr>
          <a:xfrm>
            <a:off x="502920" y="13716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ARIMA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C9885FC-D44F-182D-B9FD-124093C5B38F}"/>
              </a:ext>
            </a:extLst>
          </p:cNvPr>
          <p:cNvSpPr/>
          <p:nvPr/>
        </p:nvSpPr>
        <p:spPr>
          <a:xfrm>
            <a:off x="548640" y="23225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7A11442-4DC1-A406-36BE-C0E8A8FEB92B}"/>
              </a:ext>
            </a:extLst>
          </p:cNvPr>
          <p:cNvSpPr/>
          <p:nvPr/>
        </p:nvSpPr>
        <p:spPr>
          <a:xfrm>
            <a:off x="4754880" y="13716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LSTM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CA8FFDB-4FE5-8F81-DFAF-4D1C133AD124}"/>
              </a:ext>
            </a:extLst>
          </p:cNvPr>
          <p:cNvSpPr/>
          <p:nvPr/>
        </p:nvSpPr>
        <p:spPr>
          <a:xfrm>
            <a:off x="4800600" y="1847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DB2C9F-B9AB-371D-7262-8C6F8559A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45" y="1257669"/>
            <a:ext cx="8092440" cy="2129813"/>
          </a:xfrm>
          <a:prstGeom prst="rect">
            <a:avLst/>
          </a:prstGeom>
        </p:spPr>
      </p:pic>
      <p:sp>
        <p:nvSpPr>
          <p:cNvPr id="27" name="Text 0">
            <a:extLst>
              <a:ext uri="{FF2B5EF4-FFF2-40B4-BE49-F238E27FC236}">
                <a16:creationId xmlns:a16="http://schemas.microsoft.com/office/drawing/2014/main" id="{13119436-610E-091C-DF29-C5E30F276F35}"/>
              </a:ext>
            </a:extLst>
          </p:cNvPr>
          <p:cNvSpPr/>
          <p:nvPr/>
        </p:nvSpPr>
        <p:spPr>
          <a:xfrm>
            <a:off x="411480" y="250089"/>
            <a:ext cx="7163972" cy="35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/>
              <a:t>ARIMA</a:t>
            </a: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8840EE9E-0D0C-9EC2-9C36-B924F48C0CE4}"/>
              </a:ext>
            </a:extLst>
          </p:cNvPr>
          <p:cNvSpPr/>
          <p:nvPr/>
        </p:nvSpPr>
        <p:spPr>
          <a:xfrm>
            <a:off x="411480" y="686013"/>
            <a:ext cx="832104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BABC61EE-ECEA-F756-8ABB-ADEB1B59DBB3}"/>
              </a:ext>
            </a:extLst>
          </p:cNvPr>
          <p:cNvSpPr/>
          <p:nvPr/>
        </p:nvSpPr>
        <p:spPr>
          <a:xfrm>
            <a:off x="7835705" y="417920"/>
            <a:ext cx="11887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7190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86A78-9A29-0EA1-5064-9AC27E7E3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>
            <a:extLst>
              <a:ext uri="{FF2B5EF4-FFF2-40B4-BE49-F238E27FC236}">
                <a16:creationId xmlns:a16="http://schemas.microsoft.com/office/drawing/2014/main" id="{7619D82E-6B76-0422-18A9-04D20C0F7602}"/>
              </a:ext>
            </a:extLst>
          </p:cNvPr>
          <p:cNvSpPr/>
          <p:nvPr/>
        </p:nvSpPr>
        <p:spPr>
          <a:xfrm>
            <a:off x="502920" y="13716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ARIMA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BBC69A3-11F6-068D-C8B6-484D3C49F127}"/>
              </a:ext>
            </a:extLst>
          </p:cNvPr>
          <p:cNvSpPr/>
          <p:nvPr/>
        </p:nvSpPr>
        <p:spPr>
          <a:xfrm>
            <a:off x="548640" y="23225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EB96817-3719-50D1-CB78-BC42D784A341}"/>
              </a:ext>
            </a:extLst>
          </p:cNvPr>
          <p:cNvSpPr/>
          <p:nvPr/>
        </p:nvSpPr>
        <p:spPr>
          <a:xfrm>
            <a:off x="4754880" y="13716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LSTM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D35749F-1D87-8DFC-47A0-B36803EF9130}"/>
              </a:ext>
            </a:extLst>
          </p:cNvPr>
          <p:cNvSpPr/>
          <p:nvPr/>
        </p:nvSpPr>
        <p:spPr>
          <a:xfrm>
            <a:off x="4800600" y="1847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3E8C2FA1-AC47-58E3-9627-C3AE33075ACB}"/>
              </a:ext>
            </a:extLst>
          </p:cNvPr>
          <p:cNvSpPr/>
          <p:nvPr/>
        </p:nvSpPr>
        <p:spPr>
          <a:xfrm>
            <a:off x="411480" y="250089"/>
            <a:ext cx="7163972" cy="35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/>
              <a:t>ARIMA</a:t>
            </a: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2C9E244B-6920-EBB1-A55B-163BA42F2AF4}"/>
              </a:ext>
            </a:extLst>
          </p:cNvPr>
          <p:cNvSpPr/>
          <p:nvPr/>
        </p:nvSpPr>
        <p:spPr>
          <a:xfrm>
            <a:off x="411480" y="686013"/>
            <a:ext cx="832104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DB94A463-245B-8A1D-58A9-C5A2CC0B398B}"/>
              </a:ext>
            </a:extLst>
          </p:cNvPr>
          <p:cNvSpPr/>
          <p:nvPr/>
        </p:nvSpPr>
        <p:spPr>
          <a:xfrm>
            <a:off x="7835705" y="417920"/>
            <a:ext cx="11887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0C280937-59C0-A7CB-EEFC-E971A929386E}"/>
              </a:ext>
            </a:extLst>
          </p:cNvPr>
          <p:cNvSpPr/>
          <p:nvPr/>
        </p:nvSpPr>
        <p:spPr>
          <a:xfrm>
            <a:off x="411480" y="762872"/>
            <a:ext cx="6400800" cy="20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Auto-ARIMA via </a:t>
            </a:r>
            <a:r>
              <a:rPr lang="en-US" sz="11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pmdarima</a:t>
            </a:r>
            <a:endParaRPr lang="en-US" sz="11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BBADC8-AEDE-D321-B5E6-3960E745C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69548"/>
            <a:ext cx="5700254" cy="280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563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63FC2-89E8-EF53-9156-9FD5EC464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>
            <a:extLst>
              <a:ext uri="{FF2B5EF4-FFF2-40B4-BE49-F238E27FC236}">
                <a16:creationId xmlns:a16="http://schemas.microsoft.com/office/drawing/2014/main" id="{E70844C6-6AA9-15CC-F1CD-5199BE761966}"/>
              </a:ext>
            </a:extLst>
          </p:cNvPr>
          <p:cNvSpPr/>
          <p:nvPr/>
        </p:nvSpPr>
        <p:spPr>
          <a:xfrm>
            <a:off x="502920" y="13716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ARIMA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BD812C4-FCC6-E0D1-9099-BD3DEC5F90A2}"/>
              </a:ext>
            </a:extLst>
          </p:cNvPr>
          <p:cNvSpPr/>
          <p:nvPr/>
        </p:nvSpPr>
        <p:spPr>
          <a:xfrm>
            <a:off x="548640" y="23225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80B925C-438E-2FE4-A773-A4A78246B348}"/>
              </a:ext>
            </a:extLst>
          </p:cNvPr>
          <p:cNvSpPr/>
          <p:nvPr/>
        </p:nvSpPr>
        <p:spPr>
          <a:xfrm>
            <a:off x="4754880" y="13716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LSTM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10C7722-4579-11B0-9F15-1A3AAF295E6D}"/>
              </a:ext>
            </a:extLst>
          </p:cNvPr>
          <p:cNvSpPr/>
          <p:nvPr/>
        </p:nvSpPr>
        <p:spPr>
          <a:xfrm>
            <a:off x="4800600" y="1847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9806FA52-A99D-C175-5EBA-795897497D2E}"/>
              </a:ext>
            </a:extLst>
          </p:cNvPr>
          <p:cNvSpPr/>
          <p:nvPr/>
        </p:nvSpPr>
        <p:spPr>
          <a:xfrm>
            <a:off x="411480" y="250089"/>
            <a:ext cx="7163972" cy="35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/>
              <a:t>ARIMA</a:t>
            </a: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2D9F755F-B3F4-1868-FED8-780670FC0B42}"/>
              </a:ext>
            </a:extLst>
          </p:cNvPr>
          <p:cNvSpPr/>
          <p:nvPr/>
        </p:nvSpPr>
        <p:spPr>
          <a:xfrm>
            <a:off x="411480" y="686013"/>
            <a:ext cx="832104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6A498517-DA3C-B835-753B-9BE98CD4186E}"/>
              </a:ext>
            </a:extLst>
          </p:cNvPr>
          <p:cNvSpPr/>
          <p:nvPr/>
        </p:nvSpPr>
        <p:spPr>
          <a:xfrm>
            <a:off x="7835705" y="417920"/>
            <a:ext cx="11887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D088EF1-9924-26E5-7B9E-2079BEDF6C98}"/>
              </a:ext>
            </a:extLst>
          </p:cNvPr>
          <p:cNvSpPr/>
          <p:nvPr/>
        </p:nvSpPr>
        <p:spPr>
          <a:xfrm>
            <a:off x="411480" y="762872"/>
            <a:ext cx="6400800" cy="20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Multi Step </a:t>
            </a:r>
            <a:r>
              <a:rPr lang="en-US" sz="11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Kedepan</a:t>
            </a:r>
            <a:endParaRPr lang="en-US" sz="11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EA0BA1-3551-1FEE-9539-E0141D2AF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45468"/>
            <a:ext cx="8321040" cy="324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938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1B39D8-9538-822A-6E68-87138738F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>
            <a:extLst>
              <a:ext uri="{FF2B5EF4-FFF2-40B4-BE49-F238E27FC236}">
                <a16:creationId xmlns:a16="http://schemas.microsoft.com/office/drawing/2014/main" id="{DC2C031F-2A1F-AC2B-5BC3-A508A1B1E742}"/>
              </a:ext>
            </a:extLst>
          </p:cNvPr>
          <p:cNvSpPr/>
          <p:nvPr/>
        </p:nvSpPr>
        <p:spPr>
          <a:xfrm>
            <a:off x="502920" y="13716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ARIMA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611B221-A883-DD1E-52CD-921E8FBEAD12}"/>
              </a:ext>
            </a:extLst>
          </p:cNvPr>
          <p:cNvSpPr/>
          <p:nvPr/>
        </p:nvSpPr>
        <p:spPr>
          <a:xfrm>
            <a:off x="548640" y="23225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6750A7C-FB61-FDCC-54F9-44FB734D3BC7}"/>
              </a:ext>
            </a:extLst>
          </p:cNvPr>
          <p:cNvSpPr/>
          <p:nvPr/>
        </p:nvSpPr>
        <p:spPr>
          <a:xfrm>
            <a:off x="4754880" y="13716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LSTM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A5FC64A-B9E1-4CDC-EC94-5346085ABAB3}"/>
              </a:ext>
            </a:extLst>
          </p:cNvPr>
          <p:cNvSpPr/>
          <p:nvPr/>
        </p:nvSpPr>
        <p:spPr>
          <a:xfrm>
            <a:off x="4800600" y="1847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6F470266-F1BF-1EC1-21DC-14B0A7579480}"/>
              </a:ext>
            </a:extLst>
          </p:cNvPr>
          <p:cNvSpPr/>
          <p:nvPr/>
        </p:nvSpPr>
        <p:spPr>
          <a:xfrm>
            <a:off x="411480" y="250089"/>
            <a:ext cx="7163972" cy="35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/>
              <a:t>LSTM</a:t>
            </a: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8AC656AB-51F8-F28F-3A3A-65B782116239}"/>
              </a:ext>
            </a:extLst>
          </p:cNvPr>
          <p:cNvSpPr/>
          <p:nvPr/>
        </p:nvSpPr>
        <p:spPr>
          <a:xfrm>
            <a:off x="411480" y="686013"/>
            <a:ext cx="832104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4FACBE2B-1BF3-D72B-747B-344FFFBCC387}"/>
              </a:ext>
            </a:extLst>
          </p:cNvPr>
          <p:cNvSpPr/>
          <p:nvPr/>
        </p:nvSpPr>
        <p:spPr>
          <a:xfrm>
            <a:off x="7835705" y="417920"/>
            <a:ext cx="11887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DC113B7-B326-96D9-5016-F16FC3B6CBB4}"/>
              </a:ext>
            </a:extLst>
          </p:cNvPr>
          <p:cNvSpPr/>
          <p:nvPr/>
        </p:nvSpPr>
        <p:spPr>
          <a:xfrm>
            <a:off x="411480" y="762872"/>
            <a:ext cx="6400800" cy="20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Visualisasi</a:t>
            </a: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Forecasting </a:t>
            </a:r>
            <a:r>
              <a:rPr lang="en-US" sz="11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LSTM</a:t>
            </a:r>
            <a:endParaRPr lang="en-US" sz="11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3034BE-98DF-4B64-82D0-FB10F4C35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35" y="1101099"/>
            <a:ext cx="8384345" cy="324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676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B7C44-95F0-7927-A205-9647B6D35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>
            <a:extLst>
              <a:ext uri="{FF2B5EF4-FFF2-40B4-BE49-F238E27FC236}">
                <a16:creationId xmlns:a16="http://schemas.microsoft.com/office/drawing/2014/main" id="{116D9787-81B3-790A-390D-A62C5CD2F33E}"/>
              </a:ext>
            </a:extLst>
          </p:cNvPr>
          <p:cNvSpPr/>
          <p:nvPr/>
        </p:nvSpPr>
        <p:spPr>
          <a:xfrm>
            <a:off x="502920" y="13716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ARIMA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5E79B10-56FD-41C5-C935-EF1E9F7B9388}"/>
              </a:ext>
            </a:extLst>
          </p:cNvPr>
          <p:cNvSpPr/>
          <p:nvPr/>
        </p:nvSpPr>
        <p:spPr>
          <a:xfrm>
            <a:off x="548640" y="23225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1A105B3-B981-68BA-E418-CE4E29AE907D}"/>
              </a:ext>
            </a:extLst>
          </p:cNvPr>
          <p:cNvSpPr/>
          <p:nvPr/>
        </p:nvSpPr>
        <p:spPr>
          <a:xfrm>
            <a:off x="4754880" y="13716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LSTM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5727DE4-C8DA-2D9A-ADDD-D4D0881CD71A}"/>
              </a:ext>
            </a:extLst>
          </p:cNvPr>
          <p:cNvSpPr/>
          <p:nvPr/>
        </p:nvSpPr>
        <p:spPr>
          <a:xfrm>
            <a:off x="4800600" y="1847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8E98C1E0-D1E4-26CC-C019-241505B080EB}"/>
              </a:ext>
            </a:extLst>
          </p:cNvPr>
          <p:cNvSpPr/>
          <p:nvPr/>
        </p:nvSpPr>
        <p:spPr>
          <a:xfrm>
            <a:off x="411480" y="250089"/>
            <a:ext cx="7163972" cy="35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/>
              <a:t>LSTM</a:t>
            </a: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806364E5-C0BB-205F-ABA2-08974E6FE840}"/>
              </a:ext>
            </a:extLst>
          </p:cNvPr>
          <p:cNvSpPr/>
          <p:nvPr/>
        </p:nvSpPr>
        <p:spPr>
          <a:xfrm>
            <a:off x="411480" y="686013"/>
            <a:ext cx="832104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7745EB62-E623-7C47-5EE1-9C9FAF1CDC1D}"/>
              </a:ext>
            </a:extLst>
          </p:cNvPr>
          <p:cNvSpPr/>
          <p:nvPr/>
        </p:nvSpPr>
        <p:spPr>
          <a:xfrm>
            <a:off x="7835705" y="417920"/>
            <a:ext cx="11887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47850AA7-7971-2B37-1A97-456551E76861}"/>
              </a:ext>
            </a:extLst>
          </p:cNvPr>
          <p:cNvSpPr/>
          <p:nvPr/>
        </p:nvSpPr>
        <p:spPr>
          <a:xfrm>
            <a:off x="411480" y="762872"/>
            <a:ext cx="6400800" cy="20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 err="1"/>
              <a:t>Optimasi</a:t>
            </a:r>
            <a:r>
              <a:rPr lang="en-US" sz="1100" b="1" dirty="0"/>
              <a:t> Model </a:t>
            </a:r>
            <a:r>
              <a:rPr lang="en-US" sz="1100" b="1" dirty="0" err="1"/>
              <a:t>melalui</a:t>
            </a:r>
            <a:r>
              <a:rPr lang="en-US" sz="1100" b="1" dirty="0"/>
              <a:t> Early Stopping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EE1769-4117-7754-46A3-26C8B427B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65" y="1168526"/>
            <a:ext cx="8532055" cy="338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862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HASIL DAN PEMBAHASAN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0" y="521208"/>
            <a:ext cx="11887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228600" cy="2011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713232" y="9144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kinerja model berdasarkan 6 metrik evaluasi: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298448"/>
            <a:ext cx="1920240" cy="347472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411480" y="13167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Metrik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31720" y="1298448"/>
            <a:ext cx="1920240" cy="347472"/>
          </a:xfrm>
          <a:prstGeom prst="rect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2331720" y="13167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ARIMA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1298448"/>
            <a:ext cx="19202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4251960" y="131673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LSTM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298448"/>
            <a:ext cx="1463040" cy="34747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6172200" y="13167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Winner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1664208"/>
            <a:ext cx="1920240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Shape 16"/>
          <p:cNvSpPr/>
          <p:nvPr/>
        </p:nvSpPr>
        <p:spPr>
          <a:xfrm>
            <a:off x="2331720" y="1664208"/>
            <a:ext cx="1920240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4251960" y="1664208"/>
            <a:ext cx="1920240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6172200" y="1664208"/>
            <a:ext cx="1463040" cy="347472"/>
          </a:xfrm>
          <a:prstGeom prst="rect">
            <a:avLst/>
          </a:prstGeom>
          <a:solidFill>
            <a:srgbClr val="E8F8E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411480" y="17190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31720" y="17190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-0.358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51960" y="17190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-0.123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17190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✓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2048256"/>
            <a:ext cx="19202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Shape 24"/>
          <p:cNvSpPr/>
          <p:nvPr/>
        </p:nvSpPr>
        <p:spPr>
          <a:xfrm>
            <a:off x="2331720" y="2048256"/>
            <a:ext cx="19202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4251960" y="2048256"/>
            <a:ext cx="19202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Shape 26"/>
          <p:cNvSpPr/>
          <p:nvPr/>
        </p:nvSpPr>
        <p:spPr>
          <a:xfrm>
            <a:off x="6172200" y="2048256"/>
            <a:ext cx="1463040" cy="347472"/>
          </a:xfrm>
          <a:prstGeom prst="rect">
            <a:avLst/>
          </a:prstGeom>
          <a:solidFill>
            <a:srgbClr val="E8F8E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411480" y="2103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31720" y="2103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2.940.283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51960" y="2103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2.373.588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2103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✓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1480" y="2432304"/>
            <a:ext cx="1920240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Shape 32"/>
          <p:cNvSpPr/>
          <p:nvPr/>
        </p:nvSpPr>
        <p:spPr>
          <a:xfrm>
            <a:off x="2331720" y="2432304"/>
            <a:ext cx="1920240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Shape 33"/>
          <p:cNvSpPr/>
          <p:nvPr/>
        </p:nvSpPr>
        <p:spPr>
          <a:xfrm>
            <a:off x="4251960" y="2432304"/>
            <a:ext cx="1920240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Shape 34"/>
          <p:cNvSpPr/>
          <p:nvPr/>
        </p:nvSpPr>
        <p:spPr>
          <a:xfrm>
            <a:off x="6172200" y="2432304"/>
            <a:ext cx="1463040" cy="347472"/>
          </a:xfrm>
          <a:prstGeom prst="rect">
            <a:avLst/>
          </a:prstGeom>
          <a:solidFill>
            <a:srgbClr val="E8F8E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Text 35"/>
          <p:cNvSpPr/>
          <p:nvPr/>
        </p:nvSpPr>
        <p:spPr>
          <a:xfrm>
            <a:off x="411480" y="24871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331720" y="24871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1.714,73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251960" y="24871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1.540,65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72200" y="2487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✓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11480" y="2816352"/>
            <a:ext cx="19202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2" name="Shape 40"/>
          <p:cNvSpPr/>
          <p:nvPr/>
        </p:nvSpPr>
        <p:spPr>
          <a:xfrm>
            <a:off x="2331720" y="2816352"/>
            <a:ext cx="19202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3" name="Shape 41"/>
          <p:cNvSpPr/>
          <p:nvPr/>
        </p:nvSpPr>
        <p:spPr>
          <a:xfrm>
            <a:off x="4251960" y="2816352"/>
            <a:ext cx="19202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4" name="Shape 42"/>
          <p:cNvSpPr/>
          <p:nvPr/>
        </p:nvSpPr>
        <p:spPr>
          <a:xfrm>
            <a:off x="6172200" y="2816352"/>
            <a:ext cx="1463040" cy="347472"/>
          </a:xfrm>
          <a:prstGeom prst="rect">
            <a:avLst/>
          </a:prstGeom>
          <a:solidFill>
            <a:srgbClr val="E8F8E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5" name="Text 43"/>
          <p:cNvSpPr/>
          <p:nvPr/>
        </p:nvSpPr>
        <p:spPr>
          <a:xfrm>
            <a:off x="411480" y="28712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331720" y="28712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1.298,39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251960" y="28712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1.187,08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172200" y="28712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✓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11480" y="3200400"/>
            <a:ext cx="1920240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0" name="Shape 48"/>
          <p:cNvSpPr/>
          <p:nvPr/>
        </p:nvSpPr>
        <p:spPr>
          <a:xfrm>
            <a:off x="2331720" y="3200400"/>
            <a:ext cx="1920240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1" name="Shape 49"/>
          <p:cNvSpPr/>
          <p:nvPr/>
        </p:nvSpPr>
        <p:spPr>
          <a:xfrm>
            <a:off x="4251960" y="3200400"/>
            <a:ext cx="1920240" cy="347472"/>
          </a:xfrm>
          <a:prstGeom prst="rect">
            <a:avLst/>
          </a:prstGeom>
          <a:solidFill>
            <a:srgbClr val="F5F5F5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2" name="Shape 50"/>
          <p:cNvSpPr/>
          <p:nvPr/>
        </p:nvSpPr>
        <p:spPr>
          <a:xfrm>
            <a:off x="6172200" y="3200400"/>
            <a:ext cx="1463040" cy="347472"/>
          </a:xfrm>
          <a:prstGeom prst="rect">
            <a:avLst/>
          </a:prstGeom>
          <a:solidFill>
            <a:srgbClr val="E8F8E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3" name="Text 51"/>
          <p:cNvSpPr/>
          <p:nvPr/>
        </p:nvSpPr>
        <p:spPr>
          <a:xfrm>
            <a:off x="411480" y="32552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331720" y="32552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12,03%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251960" y="32552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11,40%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172200" y="32552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✓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11480" y="3584448"/>
            <a:ext cx="19202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8" name="Shape 56"/>
          <p:cNvSpPr/>
          <p:nvPr/>
        </p:nvSpPr>
        <p:spPr>
          <a:xfrm>
            <a:off x="2331720" y="3584448"/>
            <a:ext cx="19202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9" name="Shape 57"/>
          <p:cNvSpPr/>
          <p:nvPr/>
        </p:nvSpPr>
        <p:spPr>
          <a:xfrm>
            <a:off x="4251960" y="3584448"/>
            <a:ext cx="19202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0" name="Shape 58"/>
          <p:cNvSpPr/>
          <p:nvPr/>
        </p:nvSpPr>
        <p:spPr>
          <a:xfrm>
            <a:off x="6172200" y="3584448"/>
            <a:ext cx="1463040" cy="347472"/>
          </a:xfrm>
          <a:prstGeom prst="rect">
            <a:avLst/>
          </a:prstGeom>
          <a:solidFill>
            <a:srgbClr val="E8F8E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1" name="Text 59"/>
          <p:cNvSpPr/>
          <p:nvPr/>
        </p:nvSpPr>
        <p:spPr>
          <a:xfrm>
            <a:off x="411480" y="3639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2331720" y="3639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0,846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251960" y="36393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0,774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172200" y="3639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✓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11480" y="4041648"/>
            <a:ext cx="8321040" cy="804672"/>
          </a:xfrm>
          <a:prstGeom prst="rect">
            <a:avLst/>
          </a:prstGeom>
          <a:solidFill>
            <a:srgbClr val="FFF3F3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6" name="Text 64"/>
          <p:cNvSpPr/>
          <p:nvPr/>
        </p:nvSpPr>
        <p:spPr>
          <a:xfrm>
            <a:off x="548640" y="40965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Interpretasi Hasil: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48640" y="4334256"/>
            <a:ext cx="8092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unggul di seluruh 6 metrik. MAPE LSTM sebesar 11,40% menunjukkan akurasi yang cukup baik untuk kebutuhan retail. R² negatif pada kedua model mengindikasikan variasi tinggi pada data penjualan harian — hal wajar pada data ritel mentah yang belum difilter per kategori.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9A4627-BABC-B025-8D87-FA1C42429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>
            <a:extLst>
              <a:ext uri="{FF2B5EF4-FFF2-40B4-BE49-F238E27FC236}">
                <a16:creationId xmlns:a16="http://schemas.microsoft.com/office/drawing/2014/main" id="{5894AC43-6524-F417-68CF-359ECB5CF12E}"/>
              </a:ext>
            </a:extLst>
          </p:cNvPr>
          <p:cNvSpPr/>
          <p:nvPr/>
        </p:nvSpPr>
        <p:spPr>
          <a:xfrm>
            <a:off x="502920" y="13716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ARIMA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E2370B8-10CB-B0B4-F57A-57027ADD7A58}"/>
              </a:ext>
            </a:extLst>
          </p:cNvPr>
          <p:cNvSpPr/>
          <p:nvPr/>
        </p:nvSpPr>
        <p:spPr>
          <a:xfrm>
            <a:off x="548640" y="23225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0437D6A-EDD9-2250-1485-F1E7FD12E375}"/>
              </a:ext>
            </a:extLst>
          </p:cNvPr>
          <p:cNvSpPr/>
          <p:nvPr/>
        </p:nvSpPr>
        <p:spPr>
          <a:xfrm>
            <a:off x="4754880" y="13716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LSTM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ACFD5DA-546A-60C2-B290-B3FDC7B32C3F}"/>
              </a:ext>
            </a:extLst>
          </p:cNvPr>
          <p:cNvSpPr/>
          <p:nvPr/>
        </p:nvSpPr>
        <p:spPr>
          <a:xfrm>
            <a:off x="4800600" y="1847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050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034E2A48-11C1-FC29-6E03-A4CC670C0E44}"/>
              </a:ext>
            </a:extLst>
          </p:cNvPr>
          <p:cNvSpPr/>
          <p:nvPr/>
        </p:nvSpPr>
        <p:spPr>
          <a:xfrm>
            <a:off x="411480" y="250089"/>
            <a:ext cx="7163972" cy="354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/>
              <a:t>Perbandingan</a:t>
            </a:r>
            <a:r>
              <a:rPr lang="en-US" b="1" dirty="0"/>
              <a:t> </a:t>
            </a:r>
            <a:r>
              <a:rPr lang="en-US" b="1" dirty="0" err="1"/>
              <a:t>Metrik</a:t>
            </a:r>
            <a:r>
              <a:rPr lang="en-US" b="1" dirty="0"/>
              <a:t> </a:t>
            </a:r>
            <a:r>
              <a:rPr lang="en-US" b="1" dirty="0" err="1"/>
              <a:t>Evaluasi</a:t>
            </a:r>
            <a:r>
              <a:rPr lang="en-US" b="1" dirty="0"/>
              <a:t> ARIMA vs LSTM</a:t>
            </a: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C734EA72-74AB-8DA2-CCBF-58F6DABC1D4E}"/>
              </a:ext>
            </a:extLst>
          </p:cNvPr>
          <p:cNvSpPr/>
          <p:nvPr/>
        </p:nvSpPr>
        <p:spPr>
          <a:xfrm>
            <a:off x="411480" y="686013"/>
            <a:ext cx="832104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F93FCD73-E0D6-2B67-2293-8D208B1B03C0}"/>
              </a:ext>
            </a:extLst>
          </p:cNvPr>
          <p:cNvSpPr/>
          <p:nvPr/>
        </p:nvSpPr>
        <p:spPr>
          <a:xfrm>
            <a:off x="7835705" y="417920"/>
            <a:ext cx="11887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D59A0C-EF2D-21D5-D0DD-10103C341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1163386"/>
            <a:ext cx="8321041" cy="340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252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REKOMENDASI &amp; TINDAK LANJUT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521208"/>
            <a:ext cx="11887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Shape 5"/>
          <p:cNvSpPr/>
          <p:nvPr/>
        </p:nvSpPr>
        <p:spPr>
          <a:xfrm>
            <a:off x="411480" y="960120"/>
            <a:ext cx="228600" cy="2011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713232" y="9144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D" sz="1200" dirty="0"/>
              <a:t>Karena </a:t>
            </a:r>
            <a:r>
              <a:rPr lang="en-ID" sz="1200" b="1" dirty="0"/>
              <a:t>LSTM</a:t>
            </a:r>
            <a:r>
              <a:rPr lang="en-ID" sz="1200" dirty="0"/>
              <a:t> </a:t>
            </a:r>
            <a:r>
              <a:rPr lang="en-ID" sz="1200" dirty="0" err="1"/>
              <a:t>terbukti</a:t>
            </a:r>
            <a:r>
              <a:rPr lang="en-ID" sz="1200" dirty="0"/>
              <a:t> </a:t>
            </a:r>
            <a:r>
              <a:rPr lang="en-ID" sz="1200" dirty="0" err="1"/>
              <a:t>lebih</a:t>
            </a:r>
            <a:r>
              <a:rPr lang="en-ID" sz="1200" dirty="0"/>
              <a:t> </a:t>
            </a:r>
            <a:r>
              <a:rPr lang="en-ID" sz="1200" dirty="0" err="1"/>
              <a:t>akurat</a:t>
            </a:r>
            <a:r>
              <a:rPr lang="en-ID" sz="1200" dirty="0"/>
              <a:t> </a:t>
            </a:r>
            <a:r>
              <a:rPr lang="en-ID" sz="1200" dirty="0" err="1"/>
              <a:t>dibandingkan</a:t>
            </a:r>
            <a:r>
              <a:rPr lang="en-ID" sz="1200" dirty="0"/>
              <a:t> </a:t>
            </a:r>
            <a:r>
              <a:rPr lang="en-ID" sz="1200" dirty="0" err="1"/>
              <a:t>ARIMA,berikut</a:t>
            </a:r>
            <a:r>
              <a:rPr lang="en-ID" sz="1200" dirty="0"/>
              <a:t> </a:t>
            </a:r>
            <a:r>
              <a:rPr lang="en-ID" sz="1200" dirty="0" err="1"/>
              <a:t>rekomendasi</a:t>
            </a:r>
            <a:r>
              <a:rPr lang="en-ID" sz="1200" dirty="0"/>
              <a:t> </a:t>
            </a:r>
            <a:r>
              <a:rPr lang="en-ID" sz="1200" dirty="0" err="1"/>
              <a:t>strategis</a:t>
            </a:r>
            <a:r>
              <a:rPr lang="en-ID" sz="1200" dirty="0"/>
              <a:t> dan </a:t>
            </a:r>
            <a:r>
              <a:rPr lang="en-ID" sz="1200" dirty="0" err="1"/>
              <a:t>tindak</a:t>
            </a:r>
            <a:r>
              <a:rPr lang="en-ID" sz="1200" dirty="0"/>
              <a:t> </a:t>
            </a:r>
            <a:r>
              <a:rPr lang="en-ID" sz="1200" dirty="0" err="1"/>
              <a:t>lanjut</a:t>
            </a:r>
            <a:r>
              <a:rPr lang="en-ID" sz="1200" dirty="0"/>
              <a:t> yang paling </a:t>
            </a:r>
            <a:r>
              <a:rPr lang="en-ID" sz="1200" dirty="0" err="1"/>
              <a:t>tepat</a:t>
            </a:r>
            <a:r>
              <a:rPr lang="en-ID" sz="1200" dirty="0"/>
              <a:t>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32588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sp>
        <p:nvSpPr>
          <p:cNvPr id="10" name="Shape 8"/>
          <p:cNvSpPr/>
          <p:nvPr/>
        </p:nvSpPr>
        <p:spPr>
          <a:xfrm>
            <a:off x="411480" y="1325880"/>
            <a:ext cx="54864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640080" y="1417319"/>
            <a:ext cx="3749040" cy="861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AutoNum type="arabicPeriod"/>
            </a:pPr>
            <a:r>
              <a:rPr lang="it-IT" sz="1100" b="1" dirty="0"/>
              <a:t>Implementasi Model LSTM sebagai Standar Prediksi</a:t>
            </a:r>
          </a:p>
          <a:p>
            <a:r>
              <a:rPr lang="en-ID" sz="1100" b="1" dirty="0" err="1"/>
              <a:t>Tindak</a:t>
            </a:r>
            <a:r>
              <a:rPr lang="en-ID" sz="1100" b="1" dirty="0"/>
              <a:t> </a:t>
            </a:r>
            <a:r>
              <a:rPr lang="en-ID" sz="1100" b="1" dirty="0" err="1"/>
              <a:t>Lanjut</a:t>
            </a:r>
            <a:r>
              <a:rPr lang="en-ID" sz="1100" b="1" dirty="0"/>
              <a:t>:</a:t>
            </a:r>
            <a:r>
              <a:rPr lang="en-ID" sz="1100" dirty="0"/>
              <a:t> </a:t>
            </a:r>
            <a:r>
              <a:rPr lang="en-ID" sz="1100" dirty="0" err="1"/>
              <a:t>Integrasikan</a:t>
            </a:r>
            <a:r>
              <a:rPr lang="en-ID" sz="1100" dirty="0"/>
              <a:t> model LSTM </a:t>
            </a:r>
            <a:r>
              <a:rPr lang="en-ID" sz="1100" dirty="0" err="1"/>
              <a:t>ke</a:t>
            </a:r>
            <a:r>
              <a:rPr lang="en-ID" sz="1100" dirty="0"/>
              <a:t> </a:t>
            </a:r>
            <a:r>
              <a:rPr lang="en-ID" sz="1100" dirty="0" err="1"/>
              <a:t>dalam</a:t>
            </a:r>
            <a:r>
              <a:rPr lang="en-ID" sz="1100" dirty="0"/>
              <a:t> </a:t>
            </a:r>
            <a:r>
              <a:rPr lang="en-ID" sz="1100" dirty="0" err="1"/>
              <a:t>sistem</a:t>
            </a:r>
            <a:r>
              <a:rPr lang="en-ID" sz="1100" dirty="0"/>
              <a:t> </a:t>
            </a:r>
            <a:r>
              <a:rPr lang="en-ID" sz="1100" dirty="0" err="1"/>
              <a:t>manajemen</a:t>
            </a:r>
            <a:r>
              <a:rPr lang="en-ID" sz="1100" dirty="0"/>
              <a:t> </a:t>
            </a:r>
            <a:r>
              <a:rPr lang="en-ID" sz="1100" dirty="0" err="1"/>
              <a:t>inventaris</a:t>
            </a:r>
            <a:r>
              <a:rPr lang="en-ID" sz="1100" dirty="0"/>
              <a:t> (</a:t>
            </a:r>
            <a:r>
              <a:rPr lang="en-ID" sz="1100" i="1" dirty="0"/>
              <a:t>Inventory Management System</a:t>
            </a:r>
            <a:r>
              <a:rPr lang="en-ID" sz="1100" dirty="0"/>
              <a:t>) </a:t>
            </a:r>
            <a:r>
              <a:rPr lang="en-ID" sz="1100" dirty="0" err="1"/>
              <a:t>untuk</a:t>
            </a:r>
            <a:r>
              <a:rPr lang="en-ID" sz="1100" dirty="0"/>
              <a:t> </a:t>
            </a:r>
            <a:r>
              <a:rPr lang="en-ID" sz="1100" dirty="0" err="1"/>
              <a:t>mengotomatisasi</a:t>
            </a:r>
            <a:r>
              <a:rPr lang="en-ID" sz="1100" dirty="0"/>
              <a:t> </a:t>
            </a:r>
            <a:r>
              <a:rPr lang="en-ID" sz="1100" dirty="0" err="1"/>
              <a:t>perhitungan</a:t>
            </a:r>
            <a:r>
              <a:rPr lang="en-ID" sz="1100" dirty="0"/>
              <a:t> </a:t>
            </a:r>
            <a:r>
              <a:rPr lang="en-ID" sz="1100" dirty="0" err="1"/>
              <a:t>jumlah</a:t>
            </a:r>
            <a:r>
              <a:rPr lang="en-ID" sz="1100" dirty="0"/>
              <a:t> </a:t>
            </a:r>
            <a:r>
              <a:rPr lang="en-ID" sz="1100" dirty="0" err="1"/>
              <a:t>barang</a:t>
            </a:r>
            <a:r>
              <a:rPr lang="en-ID" sz="1100" dirty="0"/>
              <a:t> yang </a:t>
            </a:r>
            <a:r>
              <a:rPr lang="en-ID" sz="1100" dirty="0" err="1"/>
              <a:t>harus</a:t>
            </a:r>
            <a:r>
              <a:rPr lang="en-ID" sz="1100" dirty="0"/>
              <a:t> </a:t>
            </a:r>
            <a:r>
              <a:rPr lang="en-ID" sz="1100" dirty="0" err="1"/>
              <a:t>dipesan</a:t>
            </a:r>
            <a:endParaRPr lang="en-US" sz="1100" b="1" dirty="0"/>
          </a:p>
        </p:txBody>
      </p:sp>
      <p:sp>
        <p:nvSpPr>
          <p:cNvPr id="14" name="Text 12"/>
          <p:cNvSpPr/>
          <p:nvPr/>
        </p:nvSpPr>
        <p:spPr>
          <a:xfrm>
            <a:off x="1097280" y="149047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6" name="Shape 14"/>
          <p:cNvSpPr/>
          <p:nvPr/>
        </p:nvSpPr>
        <p:spPr>
          <a:xfrm>
            <a:off x="4663440" y="1325880"/>
            <a:ext cx="54864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4855464" y="1417320"/>
            <a:ext cx="3785616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D" sz="1100" b="1" dirty="0"/>
              <a:t>2. </a:t>
            </a:r>
            <a:r>
              <a:rPr lang="en-ID" sz="1100" b="1" dirty="0" err="1"/>
              <a:t>Optimalisasi</a:t>
            </a:r>
            <a:r>
              <a:rPr lang="en-ID" sz="1100" b="1" dirty="0"/>
              <a:t> Stok </a:t>
            </a:r>
            <a:br>
              <a:rPr lang="en-ID" sz="1100" b="1" dirty="0"/>
            </a:br>
            <a:r>
              <a:rPr lang="en-ID" sz="1100" b="1" dirty="0" err="1"/>
              <a:t>Cegah</a:t>
            </a:r>
            <a:r>
              <a:rPr lang="en-ID" sz="1100" b="1" dirty="0"/>
              <a:t> </a:t>
            </a:r>
            <a:r>
              <a:rPr lang="en-ID" sz="1100" b="1" i="1" dirty="0"/>
              <a:t>Stockout</a:t>
            </a:r>
            <a:r>
              <a:rPr lang="en-ID" sz="1100" b="1" dirty="0"/>
              <a:t>:</a:t>
            </a:r>
            <a:r>
              <a:rPr lang="en-ID" sz="1100" dirty="0"/>
              <a:t> </a:t>
            </a:r>
            <a:r>
              <a:rPr lang="en-ID" sz="1100" dirty="0" err="1"/>
              <a:t>Gunakan</a:t>
            </a:r>
            <a:r>
              <a:rPr lang="en-ID" sz="1100" dirty="0"/>
              <a:t> </a:t>
            </a:r>
            <a:r>
              <a:rPr lang="en-ID" sz="1100" dirty="0" err="1"/>
              <a:t>hasil</a:t>
            </a:r>
            <a:r>
              <a:rPr lang="en-ID" sz="1100" dirty="0"/>
              <a:t> </a:t>
            </a:r>
            <a:r>
              <a:rPr lang="en-ID" sz="1100" dirty="0" err="1"/>
              <a:t>prediksi</a:t>
            </a:r>
            <a:r>
              <a:rPr lang="en-ID" sz="1100" dirty="0"/>
              <a:t> </a:t>
            </a:r>
            <a:r>
              <a:rPr lang="en-ID" sz="1100" dirty="0" err="1"/>
              <a:t>untuk</a:t>
            </a:r>
            <a:r>
              <a:rPr lang="en-ID" sz="1100" dirty="0"/>
              <a:t> </a:t>
            </a:r>
            <a:r>
              <a:rPr lang="en-ID" sz="1100" dirty="0" err="1"/>
              <a:t>memastikan</a:t>
            </a:r>
            <a:r>
              <a:rPr lang="en-ID" sz="1100" dirty="0"/>
              <a:t> </a:t>
            </a:r>
            <a:r>
              <a:rPr lang="en-ID" sz="1100" dirty="0" err="1"/>
              <a:t>produk</a:t>
            </a:r>
            <a:r>
              <a:rPr lang="en-ID" sz="1100" dirty="0"/>
              <a:t> </a:t>
            </a:r>
            <a:r>
              <a:rPr lang="en-ID" sz="1100" dirty="0" err="1"/>
              <a:t>dengan</a:t>
            </a:r>
            <a:r>
              <a:rPr lang="en-ID" sz="1100" dirty="0"/>
              <a:t> </a:t>
            </a:r>
            <a:r>
              <a:rPr lang="en-ID" sz="1100" dirty="0" err="1"/>
              <a:t>permintaan</a:t>
            </a:r>
            <a:r>
              <a:rPr lang="en-ID" sz="1100" dirty="0"/>
              <a:t> </a:t>
            </a:r>
            <a:r>
              <a:rPr lang="en-ID" sz="1100" dirty="0" err="1"/>
              <a:t>tinggi</a:t>
            </a:r>
            <a:r>
              <a:rPr lang="en-ID" sz="1100" dirty="0"/>
              <a:t> </a:t>
            </a:r>
            <a:r>
              <a:rPr lang="en-ID" sz="1100" dirty="0" err="1"/>
              <a:t>selalu</a:t>
            </a:r>
            <a:r>
              <a:rPr lang="en-ID" sz="1100" dirty="0"/>
              <a:t> </a:t>
            </a:r>
            <a:r>
              <a:rPr lang="en-ID" sz="1100" dirty="0" err="1"/>
              <a:t>tersedia</a:t>
            </a:r>
            <a:endParaRPr lang="en-ID" sz="1100" dirty="0"/>
          </a:p>
          <a:p>
            <a:r>
              <a:rPr lang="en-ID" sz="1100" b="1" dirty="0"/>
              <a:t>Kurangi </a:t>
            </a:r>
            <a:r>
              <a:rPr lang="en-ID" sz="1100" b="1" i="1" dirty="0"/>
              <a:t>Overstock : </a:t>
            </a:r>
            <a:r>
              <a:rPr lang="en-ID" sz="1100" dirty="0"/>
              <a:t>Kurangi </a:t>
            </a:r>
            <a:r>
              <a:rPr lang="en-ID" sz="1100" dirty="0" err="1"/>
              <a:t>pemesanan</a:t>
            </a:r>
            <a:r>
              <a:rPr lang="en-ID" sz="1100" dirty="0"/>
              <a:t> pada </a:t>
            </a:r>
            <a:r>
              <a:rPr lang="en-ID" sz="1100" dirty="0" err="1"/>
              <a:t>periode</a:t>
            </a:r>
            <a:r>
              <a:rPr lang="en-ID" sz="1100" dirty="0"/>
              <a:t> di mana model </a:t>
            </a:r>
            <a:r>
              <a:rPr lang="en-ID" sz="1100" dirty="0" err="1"/>
              <a:t>memprediksi</a:t>
            </a:r>
            <a:r>
              <a:rPr lang="en-ID" sz="1100" dirty="0"/>
              <a:t> </a:t>
            </a:r>
            <a:r>
              <a:rPr lang="en-ID" sz="1100" dirty="0" err="1"/>
              <a:t>penurunan</a:t>
            </a:r>
            <a:r>
              <a:rPr lang="en-ID" sz="1100" dirty="0"/>
              <a:t> </a:t>
            </a:r>
            <a:r>
              <a:rPr lang="en-ID" sz="1100" dirty="0" err="1"/>
              <a:t>penjualan</a:t>
            </a:r>
            <a:r>
              <a:rPr lang="en-ID" sz="1100" dirty="0"/>
              <a:t> </a:t>
            </a:r>
            <a:r>
              <a:rPr lang="en-ID" sz="1100" dirty="0" err="1"/>
              <a:t>untuk</a:t>
            </a:r>
            <a:r>
              <a:rPr lang="en-ID" sz="1100" dirty="0"/>
              <a:t> </a:t>
            </a:r>
            <a:r>
              <a:rPr lang="en-ID" sz="1100" dirty="0" err="1"/>
              <a:t>menghemat</a:t>
            </a:r>
            <a:r>
              <a:rPr lang="en-ID" sz="1100" dirty="0"/>
              <a:t> </a:t>
            </a:r>
            <a:r>
              <a:rPr lang="en-ID" sz="1100" dirty="0" err="1"/>
              <a:t>biaya</a:t>
            </a:r>
            <a:r>
              <a:rPr lang="en-ID" sz="1100" dirty="0"/>
              <a:t> </a:t>
            </a:r>
            <a:r>
              <a:rPr lang="en-ID" sz="1100" dirty="0" err="1"/>
              <a:t>gudang</a:t>
            </a:r>
            <a:endParaRPr lang="en-ID" sz="1100" dirty="0"/>
          </a:p>
          <a:p>
            <a:endParaRPr lang="en-US" sz="1100" b="1" dirty="0"/>
          </a:p>
        </p:txBody>
      </p:sp>
      <p:sp>
        <p:nvSpPr>
          <p:cNvPr id="21" name="Shape 19"/>
          <p:cNvSpPr/>
          <p:nvPr/>
        </p:nvSpPr>
        <p:spPr>
          <a:xfrm>
            <a:off x="411480" y="256032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411480" y="2560320"/>
            <a:ext cx="54864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566928" y="2599006"/>
            <a:ext cx="3822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D" sz="1100" b="1" dirty="0"/>
              <a:t>3. </a:t>
            </a:r>
            <a:r>
              <a:rPr lang="en-ID" sz="1100" b="1" dirty="0" err="1"/>
              <a:t>Perencanaan</a:t>
            </a:r>
            <a:r>
              <a:rPr lang="en-ID" sz="1100" b="1" dirty="0"/>
              <a:t> Strategi </a:t>
            </a:r>
            <a:r>
              <a:rPr lang="en-ID" sz="1100" b="1" dirty="0" err="1"/>
              <a:t>Promosi</a:t>
            </a:r>
            <a:r>
              <a:rPr lang="en-ID" sz="1100" b="1" dirty="0"/>
              <a:t> yang </a:t>
            </a:r>
            <a:r>
              <a:rPr lang="en-ID" sz="1100" b="1" dirty="0" err="1"/>
              <a:t>Lebih</a:t>
            </a:r>
            <a:r>
              <a:rPr lang="en-ID" sz="1100" b="1" dirty="0"/>
              <a:t> </a:t>
            </a:r>
            <a:r>
              <a:rPr lang="en-ID" sz="1100" b="1" dirty="0" err="1"/>
              <a:t>Efektif</a:t>
            </a:r>
            <a:endParaRPr lang="en-US" sz="1100" b="1" dirty="0"/>
          </a:p>
        </p:txBody>
      </p:sp>
      <p:sp>
        <p:nvSpPr>
          <p:cNvPr id="26" name="Text 24"/>
          <p:cNvSpPr/>
          <p:nvPr/>
        </p:nvSpPr>
        <p:spPr>
          <a:xfrm>
            <a:off x="566928" y="2735696"/>
            <a:ext cx="3822192" cy="939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en-ID" sz="1000" b="1" dirty="0" err="1"/>
              <a:t>Tindak</a:t>
            </a:r>
            <a:r>
              <a:rPr lang="en-ID" sz="1000" b="1" dirty="0"/>
              <a:t> </a:t>
            </a:r>
            <a:r>
              <a:rPr lang="en-ID" sz="1000" b="1" dirty="0" err="1"/>
              <a:t>Lanjut</a:t>
            </a:r>
            <a:r>
              <a:rPr lang="en-ID" sz="1000" b="1" dirty="0"/>
              <a:t>:</a:t>
            </a:r>
            <a:r>
              <a:rPr lang="en-ID" sz="1000" dirty="0"/>
              <a:t> </a:t>
            </a:r>
            <a:r>
              <a:rPr lang="en-ID" sz="1000" dirty="0" err="1"/>
              <a:t>Sinkronkan</a:t>
            </a:r>
            <a:r>
              <a:rPr lang="en-ID" sz="1000" dirty="0"/>
              <a:t> </a:t>
            </a:r>
            <a:r>
              <a:rPr lang="en-ID" sz="1000" dirty="0" err="1"/>
              <a:t>jadwal</a:t>
            </a:r>
            <a:r>
              <a:rPr lang="en-ID" sz="1000" dirty="0"/>
              <a:t> </a:t>
            </a:r>
            <a:r>
              <a:rPr lang="en-ID" sz="1000" dirty="0" err="1"/>
              <a:t>promosi</a:t>
            </a:r>
            <a:r>
              <a:rPr lang="en-ID" sz="1000" dirty="0"/>
              <a:t> </a:t>
            </a:r>
            <a:r>
              <a:rPr lang="en-ID" sz="1000" dirty="0" err="1"/>
              <a:t>tim</a:t>
            </a:r>
            <a:r>
              <a:rPr lang="en-ID" sz="1000" dirty="0"/>
              <a:t> marketing </a:t>
            </a:r>
            <a:r>
              <a:rPr lang="en-ID" sz="1000" dirty="0" err="1"/>
              <a:t>dengan</a:t>
            </a:r>
            <a:r>
              <a:rPr lang="en-ID" sz="1000" dirty="0"/>
              <a:t> </a:t>
            </a:r>
            <a:r>
              <a:rPr lang="en-ID" sz="1000" dirty="0" err="1"/>
              <a:t>hasil</a:t>
            </a:r>
            <a:r>
              <a:rPr lang="en-ID" sz="1000" dirty="0"/>
              <a:t> forecast. Jika model </a:t>
            </a:r>
            <a:r>
              <a:rPr lang="en-ID" sz="1000" dirty="0" err="1"/>
              <a:t>memprediksi</a:t>
            </a:r>
            <a:r>
              <a:rPr lang="en-ID" sz="1000" dirty="0"/>
              <a:t> </a:t>
            </a:r>
            <a:r>
              <a:rPr lang="en-ID" sz="1000" dirty="0" err="1"/>
              <a:t>penjualan</a:t>
            </a:r>
            <a:r>
              <a:rPr lang="en-ID" sz="1000" dirty="0"/>
              <a:t> </a:t>
            </a:r>
            <a:r>
              <a:rPr lang="en-ID" sz="1000" dirty="0" err="1"/>
              <a:t>rendah</a:t>
            </a:r>
            <a:r>
              <a:rPr lang="en-ID" sz="1000" dirty="0"/>
              <a:t> di </a:t>
            </a:r>
            <a:r>
              <a:rPr lang="en-ID" sz="1000" dirty="0" err="1"/>
              <a:t>periode</a:t>
            </a:r>
            <a:r>
              <a:rPr lang="en-ID" sz="1000" dirty="0"/>
              <a:t> </a:t>
            </a:r>
            <a:r>
              <a:rPr lang="en-ID" sz="1000" dirty="0" err="1"/>
              <a:t>tertentu</a:t>
            </a:r>
            <a:r>
              <a:rPr lang="en-ID" sz="1000" dirty="0"/>
              <a:t>, </a:t>
            </a:r>
            <a:r>
              <a:rPr lang="en-ID" sz="1000" dirty="0" err="1"/>
              <a:t>tim</a:t>
            </a:r>
            <a:r>
              <a:rPr lang="en-ID" sz="1000" dirty="0"/>
              <a:t> marketing </a:t>
            </a:r>
            <a:r>
              <a:rPr lang="en-ID" sz="1000" dirty="0" err="1"/>
              <a:t>bisa</a:t>
            </a:r>
            <a:r>
              <a:rPr lang="en-ID" sz="1000" dirty="0"/>
              <a:t> </a:t>
            </a:r>
            <a:r>
              <a:rPr lang="en-ID" sz="1000" dirty="0" err="1"/>
              <a:t>masuk</a:t>
            </a:r>
            <a:r>
              <a:rPr lang="en-ID" sz="1000" dirty="0"/>
              <a:t> </a:t>
            </a:r>
            <a:r>
              <a:rPr lang="en-ID" sz="1000" dirty="0" err="1"/>
              <a:t>dengan</a:t>
            </a:r>
            <a:r>
              <a:rPr lang="en-ID" sz="1000" dirty="0"/>
              <a:t> </a:t>
            </a:r>
            <a:r>
              <a:rPr lang="en-ID" sz="1000" dirty="0" err="1"/>
              <a:t>promosi</a:t>
            </a:r>
            <a:r>
              <a:rPr lang="en-ID" sz="1000" dirty="0"/>
              <a:t> </a:t>
            </a:r>
            <a:r>
              <a:rPr lang="en-ID" sz="1000" dirty="0" err="1"/>
              <a:t>agresif</a:t>
            </a:r>
            <a:r>
              <a:rPr lang="en-ID" sz="1000" dirty="0"/>
              <a:t> </a:t>
            </a:r>
            <a:r>
              <a:rPr lang="en-ID" sz="1000" dirty="0" err="1"/>
              <a:t>untuk</a:t>
            </a:r>
            <a:r>
              <a:rPr lang="en-ID" sz="1000" dirty="0"/>
              <a:t> </a:t>
            </a:r>
            <a:r>
              <a:rPr lang="en-ID" sz="1000" dirty="0" err="1"/>
              <a:t>menstimulasi</a:t>
            </a:r>
            <a:r>
              <a:rPr lang="en-ID" sz="1000" dirty="0"/>
              <a:t> </a:t>
            </a:r>
            <a:r>
              <a:rPr lang="en-ID" sz="1000" dirty="0" err="1"/>
              <a:t>permintaan</a:t>
            </a:r>
            <a:r>
              <a:rPr lang="en-ID" sz="1000" dirty="0"/>
              <a:t>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56032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8" name="Shape 26"/>
          <p:cNvSpPr/>
          <p:nvPr/>
        </p:nvSpPr>
        <p:spPr>
          <a:xfrm>
            <a:off x="4663440" y="2560320"/>
            <a:ext cx="54864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Text 29"/>
          <p:cNvSpPr/>
          <p:nvPr/>
        </p:nvSpPr>
        <p:spPr>
          <a:xfrm>
            <a:off x="4855464" y="265176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D" sz="1100" b="1" dirty="0"/>
              <a:t>4. </a:t>
            </a:r>
            <a:r>
              <a:rPr lang="en-ID" sz="1100" b="1" dirty="0" err="1"/>
              <a:t>Pengembangan</a:t>
            </a:r>
            <a:r>
              <a:rPr lang="en-ID" sz="1100" b="1" dirty="0"/>
              <a:t> Model </a:t>
            </a:r>
            <a:r>
              <a:rPr lang="en-ID" sz="1100" b="1" dirty="0" err="1"/>
              <a:t>dengan</a:t>
            </a:r>
            <a:r>
              <a:rPr lang="en-ID" sz="1100" b="1" dirty="0"/>
              <a:t> </a:t>
            </a:r>
            <a:r>
              <a:rPr lang="en-ID" sz="1100" b="1" dirty="0" err="1"/>
              <a:t>Variabel</a:t>
            </a:r>
            <a:r>
              <a:rPr lang="en-ID" sz="1100" b="1" dirty="0"/>
              <a:t> </a:t>
            </a:r>
            <a:r>
              <a:rPr lang="en-ID" sz="1100" b="1" dirty="0" err="1"/>
              <a:t>Eksternal</a:t>
            </a:r>
            <a:endParaRPr lang="en-US" sz="1100" b="1" dirty="0"/>
          </a:p>
        </p:txBody>
      </p:sp>
      <p:sp>
        <p:nvSpPr>
          <p:cNvPr id="32" name="Text 30"/>
          <p:cNvSpPr/>
          <p:nvPr/>
        </p:nvSpPr>
        <p:spPr>
          <a:xfrm>
            <a:off x="4855464" y="2737572"/>
            <a:ext cx="3785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en-ID" sz="1000" b="1" dirty="0" err="1"/>
              <a:t>Tindak</a:t>
            </a:r>
            <a:r>
              <a:rPr lang="en-ID" sz="1000" b="1" dirty="0"/>
              <a:t> </a:t>
            </a:r>
            <a:r>
              <a:rPr lang="en-ID" sz="1000" b="1" dirty="0" err="1"/>
              <a:t>Lanjut</a:t>
            </a:r>
            <a:r>
              <a:rPr lang="en-ID" sz="1000" b="1" dirty="0"/>
              <a:t>:</a:t>
            </a:r>
            <a:r>
              <a:rPr lang="en-ID" sz="1000" dirty="0"/>
              <a:t> Masukkan data </a:t>
            </a:r>
            <a:r>
              <a:rPr lang="en-ID" sz="1000" dirty="0" err="1"/>
              <a:t>tambahan</a:t>
            </a:r>
            <a:r>
              <a:rPr lang="en-ID" sz="1000" dirty="0"/>
              <a:t> </a:t>
            </a:r>
            <a:r>
              <a:rPr lang="en-ID" sz="1000" dirty="0" err="1"/>
              <a:t>untuk</a:t>
            </a:r>
            <a:r>
              <a:rPr lang="en-ID" sz="1000" dirty="0"/>
              <a:t> </a:t>
            </a:r>
            <a:r>
              <a:rPr lang="en-ID" sz="1000" dirty="0" err="1"/>
              <a:t>bisa</a:t>
            </a:r>
            <a:r>
              <a:rPr lang="en-ID" sz="1000" dirty="0"/>
              <a:t> </a:t>
            </a:r>
            <a:r>
              <a:rPr lang="en-ID" sz="1000" dirty="0" err="1"/>
              <a:t>meningkatkan</a:t>
            </a:r>
            <a:r>
              <a:rPr lang="en-ID" sz="1000" dirty="0"/>
              <a:t> </a:t>
            </a:r>
            <a:r>
              <a:rPr lang="en-ID" sz="1000" dirty="0" err="1"/>
              <a:t>akurasi</a:t>
            </a:r>
            <a:r>
              <a:rPr lang="en-ID" sz="1000" dirty="0"/>
              <a:t> model.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379476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4" name="Shape 32"/>
          <p:cNvSpPr/>
          <p:nvPr/>
        </p:nvSpPr>
        <p:spPr>
          <a:xfrm>
            <a:off x="411480" y="3794760"/>
            <a:ext cx="54864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Text 35"/>
          <p:cNvSpPr/>
          <p:nvPr/>
        </p:nvSpPr>
        <p:spPr>
          <a:xfrm>
            <a:off x="603504" y="3886200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1100" b="1" dirty="0"/>
              <a:t>5. Pemantauan Model Secara Berkala (</a:t>
            </a:r>
            <a:r>
              <a:rPr lang="it-IT" sz="1100" b="1" i="1" dirty="0"/>
              <a:t>Model Monitoring</a:t>
            </a:r>
            <a:r>
              <a:rPr lang="it-IT" sz="1100" b="1" dirty="0"/>
              <a:t>)</a:t>
            </a:r>
            <a:endParaRPr lang="en-US" sz="1100" b="1" dirty="0"/>
          </a:p>
        </p:txBody>
      </p:sp>
      <p:sp>
        <p:nvSpPr>
          <p:cNvPr id="38" name="Text 36"/>
          <p:cNvSpPr/>
          <p:nvPr/>
        </p:nvSpPr>
        <p:spPr>
          <a:xfrm>
            <a:off x="603504" y="4038835"/>
            <a:ext cx="37444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en-ID" sz="1000" b="1" dirty="0" err="1"/>
              <a:t>Tindak</a:t>
            </a:r>
            <a:r>
              <a:rPr lang="en-ID" sz="1000" b="1" dirty="0"/>
              <a:t> </a:t>
            </a:r>
            <a:r>
              <a:rPr lang="en-ID" sz="1000" b="1" dirty="0" err="1"/>
              <a:t>Lanjut</a:t>
            </a:r>
            <a:r>
              <a:rPr lang="en-ID" sz="1000" b="1" dirty="0"/>
              <a:t>:</a:t>
            </a:r>
            <a:r>
              <a:rPr lang="en-ID" sz="1000" dirty="0"/>
              <a:t> </a:t>
            </a:r>
            <a:r>
              <a:rPr lang="en-ID" sz="1000" dirty="0" err="1"/>
              <a:t>Lakukan</a:t>
            </a:r>
            <a:r>
              <a:rPr lang="en-ID" sz="1000" dirty="0"/>
              <a:t> </a:t>
            </a:r>
            <a:r>
              <a:rPr lang="en-ID" sz="1000" dirty="0" err="1"/>
              <a:t>evaluasi</a:t>
            </a:r>
            <a:r>
              <a:rPr lang="en-ID" sz="1000" dirty="0"/>
              <a:t> </a:t>
            </a:r>
            <a:r>
              <a:rPr lang="en-ID" sz="1000" dirty="0" err="1"/>
              <a:t>ulang</a:t>
            </a:r>
            <a:r>
              <a:rPr lang="en-ID" sz="1000" dirty="0"/>
              <a:t> (re-training) model </a:t>
            </a:r>
            <a:r>
              <a:rPr lang="en-ID" sz="1000" dirty="0" err="1"/>
              <a:t>setiap</a:t>
            </a:r>
            <a:r>
              <a:rPr lang="en-ID" sz="1000" dirty="0"/>
              <a:t> </a:t>
            </a:r>
            <a:r>
              <a:rPr lang="en-ID" sz="1000" dirty="0" err="1"/>
              <a:t>bulan</a:t>
            </a:r>
            <a:r>
              <a:rPr lang="en-ID" sz="1000" dirty="0"/>
              <a:t> </a:t>
            </a:r>
            <a:r>
              <a:rPr lang="en-ID" sz="1000" dirty="0" err="1"/>
              <a:t>atau</a:t>
            </a:r>
            <a:r>
              <a:rPr lang="en-ID" sz="1000" dirty="0"/>
              <a:t> </a:t>
            </a:r>
            <a:r>
              <a:rPr lang="en-ID" sz="1000" dirty="0" err="1"/>
              <a:t>setiap</a:t>
            </a:r>
            <a:r>
              <a:rPr lang="en-ID" sz="1000" dirty="0"/>
              <a:t> </a:t>
            </a:r>
            <a:r>
              <a:rPr lang="en-ID" sz="1000" dirty="0" err="1"/>
              <a:t>kuartal</a:t>
            </a:r>
            <a:r>
              <a:rPr lang="en-ID" sz="1000" dirty="0"/>
              <a:t> </a:t>
            </a:r>
            <a:r>
              <a:rPr lang="en-ID" sz="1000" dirty="0" err="1"/>
              <a:t>dengan</a:t>
            </a:r>
            <a:r>
              <a:rPr lang="en-ID" sz="1000" dirty="0"/>
              <a:t> data </a:t>
            </a:r>
            <a:r>
              <a:rPr lang="en-ID" sz="1000" dirty="0" err="1"/>
              <a:t>terbaru</a:t>
            </a:r>
            <a:r>
              <a:rPr lang="en-ID" sz="1000" dirty="0"/>
              <a:t> agar model </a:t>
            </a:r>
            <a:r>
              <a:rPr lang="en-ID" sz="1000" dirty="0" err="1"/>
              <a:t>tetap</a:t>
            </a:r>
            <a:r>
              <a:rPr lang="en-ID" sz="1000" dirty="0"/>
              <a:t> </a:t>
            </a:r>
            <a:r>
              <a:rPr lang="en-ID" sz="1000" dirty="0" err="1"/>
              <a:t>relevan</a:t>
            </a:r>
            <a:r>
              <a:rPr lang="en-ID" sz="1000" dirty="0"/>
              <a:t> dan </a:t>
            </a:r>
            <a:r>
              <a:rPr lang="en-ID" sz="1000" dirty="0" err="1"/>
              <a:t>akurasinya</a:t>
            </a:r>
            <a:r>
              <a:rPr lang="en-ID" sz="1000" dirty="0"/>
              <a:t> </a:t>
            </a:r>
            <a:r>
              <a:rPr lang="en-ID" sz="1000" dirty="0" err="1"/>
              <a:t>tidak</a:t>
            </a:r>
            <a:r>
              <a:rPr lang="en-ID" sz="1000" dirty="0"/>
              <a:t> "</a:t>
            </a:r>
            <a:r>
              <a:rPr lang="en-ID" sz="1000" dirty="0" err="1"/>
              <a:t>basi</a:t>
            </a:r>
            <a:r>
              <a:rPr lang="en-ID" sz="1000" dirty="0"/>
              <a:t>" (</a:t>
            </a:r>
            <a:r>
              <a:rPr lang="en-ID" sz="1000" i="1" dirty="0"/>
              <a:t>model drift</a:t>
            </a:r>
            <a:r>
              <a:rPr lang="en-ID" sz="1000" dirty="0"/>
              <a:t>).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79476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0" name="Shape 38"/>
          <p:cNvSpPr/>
          <p:nvPr/>
        </p:nvSpPr>
        <p:spPr>
          <a:xfrm>
            <a:off x="4663440" y="3794760"/>
            <a:ext cx="54864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4" name="Text 42"/>
          <p:cNvSpPr/>
          <p:nvPr/>
        </p:nvSpPr>
        <p:spPr>
          <a:xfrm>
            <a:off x="4910328" y="3963924"/>
            <a:ext cx="3694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en-ID" sz="1000" dirty="0" err="1"/>
              <a:t>Fokus</a:t>
            </a:r>
            <a:r>
              <a:rPr lang="en-ID" sz="1000" dirty="0"/>
              <a:t> pada </a:t>
            </a:r>
            <a:r>
              <a:rPr lang="en-ID" sz="1000" dirty="0" err="1"/>
              <a:t>otomatisasi</a:t>
            </a:r>
            <a:r>
              <a:rPr lang="en-ID" sz="1000" dirty="0"/>
              <a:t> </a:t>
            </a:r>
            <a:r>
              <a:rPr lang="en-ID" sz="1000" dirty="0" err="1"/>
              <a:t>pengadaan</a:t>
            </a:r>
            <a:r>
              <a:rPr lang="en-ID" sz="1000" dirty="0"/>
              <a:t> </a:t>
            </a:r>
            <a:r>
              <a:rPr lang="en-ID" sz="1000" dirty="0" err="1"/>
              <a:t>barang</a:t>
            </a:r>
            <a:r>
              <a:rPr lang="en-ID" sz="1000" dirty="0"/>
              <a:t> </a:t>
            </a:r>
            <a:r>
              <a:rPr lang="en-ID" sz="1000" dirty="0" err="1"/>
              <a:t>menggunakan</a:t>
            </a:r>
            <a:r>
              <a:rPr lang="en-ID" sz="1000" dirty="0"/>
              <a:t> input </a:t>
            </a:r>
            <a:r>
              <a:rPr lang="en-ID" sz="1000" dirty="0" err="1"/>
              <a:t>dari</a:t>
            </a:r>
            <a:r>
              <a:rPr lang="en-ID" sz="1000" dirty="0"/>
              <a:t> model LSTM </a:t>
            </a:r>
            <a:r>
              <a:rPr lang="en-ID" sz="1000" dirty="0" err="1"/>
              <a:t>untuk</a:t>
            </a:r>
            <a:r>
              <a:rPr lang="en-ID" sz="1000" dirty="0"/>
              <a:t> </a:t>
            </a:r>
            <a:r>
              <a:rPr lang="en-ID" sz="1000" dirty="0" err="1"/>
              <a:t>menurunkan</a:t>
            </a:r>
            <a:r>
              <a:rPr lang="en-ID" sz="1000" dirty="0"/>
              <a:t> </a:t>
            </a:r>
            <a:r>
              <a:rPr lang="en-ID" sz="1000" dirty="0" err="1"/>
              <a:t>biaya</a:t>
            </a:r>
            <a:r>
              <a:rPr lang="en-ID" sz="1000" dirty="0"/>
              <a:t> </a:t>
            </a:r>
            <a:r>
              <a:rPr lang="en-ID" sz="1000" dirty="0" err="1"/>
              <a:t>operasional</a:t>
            </a:r>
            <a:r>
              <a:rPr lang="en-ID" sz="1000" dirty="0"/>
              <a:t> </a:t>
            </a:r>
            <a:r>
              <a:rPr lang="en-ID" sz="1000" dirty="0" err="1"/>
              <a:t>gudang</a:t>
            </a:r>
            <a:r>
              <a:rPr lang="en-ID" sz="1000" dirty="0"/>
              <a:t> </a:t>
            </a:r>
            <a:r>
              <a:rPr lang="en-ID" sz="1000" dirty="0" err="1"/>
              <a:t>hingga</a:t>
            </a:r>
            <a:r>
              <a:rPr lang="en-ID" sz="1000" dirty="0"/>
              <a:t> 10-15% (</a:t>
            </a:r>
            <a:r>
              <a:rPr lang="en-ID" sz="1000" dirty="0" err="1"/>
              <a:t>estimasi</a:t>
            </a:r>
            <a:r>
              <a:rPr lang="en-ID" sz="1000" dirty="0"/>
              <a:t> </a:t>
            </a:r>
            <a:r>
              <a:rPr lang="en-ID" sz="1000" dirty="0" err="1"/>
              <a:t>umum</a:t>
            </a:r>
            <a:r>
              <a:rPr lang="en-ID" sz="1000" dirty="0"/>
              <a:t> </a:t>
            </a:r>
            <a:r>
              <a:rPr lang="en-ID" sz="1000" dirty="0" err="1"/>
              <a:t>dari</a:t>
            </a:r>
            <a:r>
              <a:rPr lang="en-ID" sz="1000" dirty="0"/>
              <a:t> </a:t>
            </a:r>
            <a:r>
              <a:rPr lang="en-ID" sz="1000" dirty="0" err="1"/>
              <a:t>efisiensi</a:t>
            </a:r>
            <a:r>
              <a:rPr lang="en-ID" sz="1000" dirty="0"/>
              <a:t> forecasting).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KESIMPULAN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438912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8872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LSTM &gt; ARIMA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42646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mengungguli ARIMA di seluruh 6 metrik evaluasi (RMSE, MAE, MAPE, MASE, MSE, R²).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438912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10312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MAPE 11,40%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34086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akurasi LSTM yang memadai untuk mendukung keputusan planning inventori retail.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017520"/>
            <a:ext cx="438912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502920" y="306324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01752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Potensi Pengembangan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5526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fitur eksogen &amp; model modern (Prophet, N-BEATS) dapat meningkatkan performa signifikan.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931920"/>
            <a:ext cx="438912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502920" y="3977640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3192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Siap Deployment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16966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LSTM dapat diintegrasikan ke dalam pipeline produksi dengan REST API dan monitoring berkelanjutan.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4127</TotalTime>
  <Words>790</Words>
  <Application>Microsoft Office PowerPoint</Application>
  <PresentationFormat>On-screen Show (16:9)</PresentationFormat>
  <Paragraphs>165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Forecasting Project</dc:title>
  <dc:subject>PptxGenJS Presentation</dc:subject>
  <dc:creator>PptxGenJS</dc:creator>
  <cp:lastModifiedBy>Rahmadina Senofitri</cp:lastModifiedBy>
  <cp:revision>11</cp:revision>
  <dcterms:created xsi:type="dcterms:W3CDTF">2026-03-11T05:00:37Z</dcterms:created>
  <dcterms:modified xsi:type="dcterms:W3CDTF">2026-03-16T10:09:13Z</dcterms:modified>
</cp:coreProperties>
</file>